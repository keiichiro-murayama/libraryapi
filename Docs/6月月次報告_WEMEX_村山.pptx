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0"/>
  </p:notesMasterIdLst>
  <p:sldIdLst>
    <p:sldId id="263" r:id="rId2"/>
    <p:sldId id="257" r:id="rId3"/>
    <p:sldId id="264" r:id="rId4"/>
    <p:sldId id="258" r:id="rId5"/>
    <p:sldId id="259" r:id="rId6"/>
    <p:sldId id="260" r:id="rId7"/>
    <p:sldId id="261" r:id="rId8"/>
    <p:sldId id="262" r:id="rId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628" autoAdjust="0"/>
    <p:restoredTop sz="83333" autoAdjust="0"/>
  </p:normalViewPr>
  <p:slideViewPr>
    <p:cSldViewPr snapToGrid="0">
      <p:cViewPr>
        <p:scale>
          <a:sx n="50" d="100"/>
          <a:sy n="50" d="100"/>
        </p:scale>
        <p:origin x="1564" y="292"/>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5DFB48-BF8E-4DAE-9245-C7BDFBBD32B5}" type="datetimeFigureOut">
              <a:rPr kumimoji="1" lang="ja-JP" altLang="en-US" smtClean="0"/>
              <a:t>2026/6/29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3524C29-D08E-4ED8-BCF4-38B75C40CB7A}" type="slidenum">
              <a:rPr kumimoji="1" lang="ja-JP" altLang="en-US" smtClean="0"/>
              <a:t>‹#›</a:t>
            </a:fld>
            <a:endParaRPr kumimoji="1" lang="ja-JP" altLang="en-US"/>
          </a:p>
        </p:txBody>
      </p:sp>
    </p:spTree>
    <p:extLst>
      <p:ext uri="{BB962C8B-B14F-4D97-AF65-F5344CB8AC3E}">
        <p14:creationId xmlns:p14="http://schemas.microsoft.com/office/powerpoint/2010/main" val="286169648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これから</a:t>
            </a:r>
            <a:r>
              <a:rPr kumimoji="1" lang="en-US" altLang="ja-JP" dirty="0"/>
              <a:t>6</a:t>
            </a:r>
            <a:r>
              <a:rPr kumimoji="1" lang="ja-JP" altLang="en-US" dirty="0"/>
              <a:t>月の研修報告を行います。ウィーメックス株式会社の村山惠一郎です。よろしくお願いいたします。</a:t>
            </a:r>
          </a:p>
        </p:txBody>
      </p:sp>
      <p:sp>
        <p:nvSpPr>
          <p:cNvPr id="4" name="スライド番号プレースホルダー 3"/>
          <p:cNvSpPr>
            <a:spLocks noGrp="1"/>
          </p:cNvSpPr>
          <p:nvPr>
            <p:ph type="sldNum" sz="quarter" idx="5"/>
          </p:nvPr>
        </p:nvSpPr>
        <p:spPr/>
        <p:txBody>
          <a:bodyPr/>
          <a:lstStyle/>
          <a:p>
            <a:fld id="{73524C29-D08E-4ED8-BCF4-38B75C40CB7A}" type="slidenum">
              <a:rPr kumimoji="1" lang="ja-JP" altLang="en-US" smtClean="0"/>
              <a:t>1</a:t>
            </a:fld>
            <a:endParaRPr kumimoji="1" lang="ja-JP" altLang="en-US"/>
          </a:p>
        </p:txBody>
      </p:sp>
    </p:spTree>
    <p:extLst>
      <p:ext uri="{BB962C8B-B14F-4D97-AF65-F5344CB8AC3E}">
        <p14:creationId xmlns:p14="http://schemas.microsoft.com/office/powerpoint/2010/main" val="138916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初めに、今月の研修概要についてご報告いたします。今月の研修の目標は２つあります。「一つ目は、ドメイン駆動設計の基本理念を理解する。２つ目は様々なツールや言語を体験して何ができるかを知る。」です。この目標を達成するにあたり、スライドに示す項目について研修を行いました。まず、</a:t>
            </a:r>
            <a:r>
              <a:rPr kumimoji="1" lang="en-US" altLang="ja-JP" dirty="0"/>
              <a:t>RESTAPI</a:t>
            </a:r>
            <a:r>
              <a:rPr kumimoji="1" lang="ja-JP" altLang="en-US" dirty="0"/>
              <a:t>について学習いたしました。本タームでは</a:t>
            </a:r>
            <a:r>
              <a:rPr kumimoji="1" lang="en-US" altLang="ja-JP" dirty="0"/>
              <a:t>API</a:t>
            </a:r>
            <a:r>
              <a:rPr kumimoji="1" lang="ja-JP" altLang="en-US" dirty="0"/>
              <a:t>がリクエストを受け、レスポンスを返す仕組みを学び、</a:t>
            </a:r>
            <a:r>
              <a:rPr kumimoji="1" lang="en-US" altLang="ja-JP" dirty="0"/>
              <a:t>API</a:t>
            </a:r>
            <a:r>
              <a:rPr kumimoji="1" lang="ja-JP" altLang="en-US" dirty="0"/>
              <a:t>型のアプリケーション開発演習を実施いたしました。その際、ドメイン駆動設計について学習し、ドメイン駆動設計に基づくシステム設計を行いました。続いて</a:t>
            </a:r>
            <a:r>
              <a:rPr kumimoji="1" lang="en-US" altLang="ja-JP" dirty="0"/>
              <a:t>Azure</a:t>
            </a:r>
            <a:r>
              <a:rPr kumimoji="1" lang="ja-JP" altLang="en-US" dirty="0"/>
              <a:t>上に</a:t>
            </a:r>
            <a:r>
              <a:rPr kumimoji="1" lang="en-US" altLang="ja-JP" dirty="0"/>
              <a:t>VM</a:t>
            </a:r>
            <a:r>
              <a:rPr kumimoji="1" lang="ja-JP" altLang="en-US" dirty="0"/>
              <a:t>や</a:t>
            </a:r>
            <a:r>
              <a:rPr kumimoji="1" lang="en-US" altLang="ja-JP" dirty="0"/>
              <a:t>DB</a:t>
            </a:r>
            <a:r>
              <a:rPr kumimoji="1" lang="ja-JP" altLang="en-US" dirty="0"/>
              <a:t>を構築し、外部および内部アクセスのネットワークを構築する演習を行いました。</a:t>
            </a:r>
          </a:p>
        </p:txBody>
      </p:sp>
      <p:sp>
        <p:nvSpPr>
          <p:cNvPr id="4" name="スライド番号プレースホルダー 3"/>
          <p:cNvSpPr>
            <a:spLocks noGrp="1"/>
          </p:cNvSpPr>
          <p:nvPr>
            <p:ph type="sldNum" sz="quarter" idx="5"/>
          </p:nvPr>
        </p:nvSpPr>
        <p:spPr/>
        <p:txBody>
          <a:bodyPr/>
          <a:lstStyle/>
          <a:p>
            <a:fld id="{73524C29-D08E-4ED8-BCF4-38B75C40CB7A}" type="slidenum">
              <a:rPr kumimoji="1" lang="ja-JP" altLang="en-US" smtClean="0"/>
              <a:t>2</a:t>
            </a:fld>
            <a:endParaRPr kumimoji="1" lang="ja-JP" altLang="en-US"/>
          </a:p>
        </p:txBody>
      </p:sp>
    </p:spTree>
    <p:extLst>
      <p:ext uri="{BB962C8B-B14F-4D97-AF65-F5344CB8AC3E}">
        <p14:creationId xmlns:p14="http://schemas.microsoft.com/office/powerpoint/2010/main" val="31973198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BCC208-9B79-FF56-B154-C54EB3049B8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0A63F0E-817A-C640-FBAD-35AAE490FE2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660C8096-0AA2-E629-BECB-5EAE2084BDEB}"/>
              </a:ext>
            </a:extLst>
          </p:cNvPr>
          <p:cNvSpPr>
            <a:spLocks noGrp="1"/>
          </p:cNvSpPr>
          <p:nvPr>
            <p:ph type="dt" sz="half" idx="10"/>
          </p:nvPr>
        </p:nvSpPr>
        <p:spPr/>
        <p:txBody>
          <a:bodyPr/>
          <a:lstStyle/>
          <a:p>
            <a:fld id="{40674B26-A1C0-44AD-8EC1-46B0E6C6CFD9}" type="datetime1">
              <a:rPr kumimoji="1" lang="ja-JP" altLang="en-US" smtClean="0"/>
              <a:t>2026/6/29</a:t>
            </a:fld>
            <a:endParaRPr kumimoji="1" lang="ja-JP" altLang="en-US"/>
          </a:p>
        </p:txBody>
      </p:sp>
      <p:sp>
        <p:nvSpPr>
          <p:cNvPr id="5" name="フッター プレースホルダー 4">
            <a:extLst>
              <a:ext uri="{FF2B5EF4-FFF2-40B4-BE49-F238E27FC236}">
                <a16:creationId xmlns:a16="http://schemas.microsoft.com/office/drawing/2014/main" id="{05DB292E-D88E-8B09-3CF2-ED4A0BD0A3A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E529E32-302A-52A1-66AB-F62CEEC4CEB1}"/>
              </a:ext>
            </a:extLst>
          </p:cNvPr>
          <p:cNvSpPr>
            <a:spLocks noGrp="1"/>
          </p:cNvSpPr>
          <p:nvPr>
            <p:ph type="sldNum" sz="quarter" idx="12"/>
          </p:nvPr>
        </p:nvSpPr>
        <p:spPr>
          <a:xfrm>
            <a:off x="11579086" y="6398730"/>
            <a:ext cx="440635" cy="322745"/>
          </a:xfrm>
          <a:prstGeom prst="rect">
            <a:avLst/>
          </a:prstGeom>
        </p:spPr>
        <p:txBody>
          <a:bodyPr/>
          <a:lstStyle/>
          <a:p>
            <a:fld id="{00D2F285-7DC3-4F9C-8E53-6893EECBFE42}" type="slidenum">
              <a:rPr kumimoji="1" lang="ja-JP" altLang="en-US" smtClean="0"/>
              <a:t>‹#›</a:t>
            </a:fld>
            <a:endParaRPr kumimoji="1" lang="ja-JP" altLang="en-US"/>
          </a:p>
        </p:txBody>
      </p:sp>
    </p:spTree>
    <p:extLst>
      <p:ext uri="{BB962C8B-B14F-4D97-AF65-F5344CB8AC3E}">
        <p14:creationId xmlns:p14="http://schemas.microsoft.com/office/powerpoint/2010/main" val="38215236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4099F3-4C72-50D2-4CF6-965DE735921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01527E8-169B-DF98-B277-A3DD64BED890}"/>
              </a:ext>
            </a:extLst>
          </p:cNvPr>
          <p:cNvSpPr>
            <a:spLocks noGrp="1"/>
          </p:cNvSpPr>
          <p:nvPr>
            <p:ph idx="1"/>
          </p:nvPr>
        </p:nvSpPr>
        <p:spPr>
          <a:xfrm>
            <a:off x="838200" y="1162878"/>
            <a:ext cx="10515600" cy="5014085"/>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E7504D0-4050-9F94-B3B5-1ED8BBA1500F}"/>
              </a:ext>
            </a:extLst>
          </p:cNvPr>
          <p:cNvSpPr>
            <a:spLocks noGrp="1"/>
          </p:cNvSpPr>
          <p:nvPr>
            <p:ph type="dt" sz="half" idx="10"/>
          </p:nvPr>
        </p:nvSpPr>
        <p:spPr/>
        <p:txBody>
          <a:bodyPr/>
          <a:lstStyle/>
          <a:p>
            <a:fld id="{D6B425C4-82FA-44CD-9E0C-9F3A2EACAB3C}" type="datetime1">
              <a:rPr kumimoji="1" lang="ja-JP" altLang="en-US" smtClean="0"/>
              <a:t>2026/6/29</a:t>
            </a:fld>
            <a:endParaRPr kumimoji="1" lang="ja-JP" altLang="en-US"/>
          </a:p>
        </p:txBody>
      </p:sp>
      <p:sp>
        <p:nvSpPr>
          <p:cNvPr id="5" name="フッター プレースホルダー 4">
            <a:extLst>
              <a:ext uri="{FF2B5EF4-FFF2-40B4-BE49-F238E27FC236}">
                <a16:creationId xmlns:a16="http://schemas.microsoft.com/office/drawing/2014/main" id="{4FDE00EF-FEF9-86A3-88F0-C501196E468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B949010-28B6-CA35-3FF4-61E15E91AF78}"/>
              </a:ext>
            </a:extLst>
          </p:cNvPr>
          <p:cNvSpPr>
            <a:spLocks noGrp="1"/>
          </p:cNvSpPr>
          <p:nvPr>
            <p:ph type="sldNum" sz="quarter" idx="12"/>
          </p:nvPr>
        </p:nvSpPr>
        <p:spPr>
          <a:xfrm>
            <a:off x="11579086" y="6398730"/>
            <a:ext cx="440635" cy="322745"/>
          </a:xfrm>
          <a:prstGeom prst="rect">
            <a:avLst/>
          </a:prstGeom>
        </p:spPr>
        <p:txBody>
          <a:bodyPr/>
          <a:lstStyle/>
          <a:p>
            <a:fld id="{00D2F285-7DC3-4F9C-8E53-6893EECBFE42}" type="slidenum">
              <a:rPr kumimoji="1" lang="ja-JP" altLang="en-US" smtClean="0"/>
              <a:t>‹#›</a:t>
            </a:fld>
            <a:endParaRPr kumimoji="1" lang="ja-JP" altLang="en-US"/>
          </a:p>
        </p:txBody>
      </p:sp>
      <p:sp>
        <p:nvSpPr>
          <p:cNvPr id="8" name="正方形/長方形 7">
            <a:extLst>
              <a:ext uri="{FF2B5EF4-FFF2-40B4-BE49-F238E27FC236}">
                <a16:creationId xmlns:a16="http://schemas.microsoft.com/office/drawing/2014/main" id="{CB6D039A-3619-130F-5D21-D929A856BB08}"/>
              </a:ext>
            </a:extLst>
          </p:cNvPr>
          <p:cNvSpPr/>
          <p:nvPr userDrawn="1"/>
        </p:nvSpPr>
        <p:spPr>
          <a:xfrm>
            <a:off x="168965" y="178904"/>
            <a:ext cx="258418" cy="71561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29026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BAAF06D-6F4C-DEC8-74AC-33531DDBE34D}"/>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B7E716B-5CAA-A526-D2A2-D3B22170153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753FDD32-DAC1-E359-6884-26FF890B058F}"/>
              </a:ext>
            </a:extLst>
          </p:cNvPr>
          <p:cNvSpPr>
            <a:spLocks noGrp="1"/>
          </p:cNvSpPr>
          <p:nvPr>
            <p:ph type="dt" sz="half" idx="10"/>
          </p:nvPr>
        </p:nvSpPr>
        <p:spPr/>
        <p:txBody>
          <a:bodyPr/>
          <a:lstStyle/>
          <a:p>
            <a:fld id="{CB3D9286-461F-4119-8ED2-4BD1EA4294A1}" type="datetime1">
              <a:rPr kumimoji="1" lang="ja-JP" altLang="en-US" smtClean="0"/>
              <a:t>2026/6/29</a:t>
            </a:fld>
            <a:endParaRPr kumimoji="1" lang="ja-JP" altLang="en-US"/>
          </a:p>
        </p:txBody>
      </p:sp>
      <p:sp>
        <p:nvSpPr>
          <p:cNvPr id="5" name="フッター プレースホルダー 4">
            <a:extLst>
              <a:ext uri="{FF2B5EF4-FFF2-40B4-BE49-F238E27FC236}">
                <a16:creationId xmlns:a16="http://schemas.microsoft.com/office/drawing/2014/main" id="{61991996-07BC-7FFC-ED65-3FB6B5BD894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65B3C3E-9BB1-7F42-0E72-9E44E02147D7}"/>
              </a:ext>
            </a:extLst>
          </p:cNvPr>
          <p:cNvSpPr>
            <a:spLocks noGrp="1"/>
          </p:cNvSpPr>
          <p:nvPr>
            <p:ph type="sldNum" sz="quarter" idx="12"/>
          </p:nvPr>
        </p:nvSpPr>
        <p:spPr>
          <a:xfrm>
            <a:off x="11579086" y="6398730"/>
            <a:ext cx="440635" cy="322745"/>
          </a:xfrm>
          <a:prstGeom prst="rect">
            <a:avLst/>
          </a:prstGeom>
        </p:spPr>
        <p:txBody>
          <a:bodyPr/>
          <a:lstStyle/>
          <a:p>
            <a:fld id="{00D2F285-7DC3-4F9C-8E53-6893EECBFE42}" type="slidenum">
              <a:rPr kumimoji="1" lang="ja-JP" altLang="en-US" smtClean="0"/>
              <a:t>‹#›</a:t>
            </a:fld>
            <a:endParaRPr kumimoji="1" lang="ja-JP" altLang="en-US"/>
          </a:p>
        </p:txBody>
      </p:sp>
    </p:spTree>
    <p:extLst>
      <p:ext uri="{BB962C8B-B14F-4D97-AF65-F5344CB8AC3E}">
        <p14:creationId xmlns:p14="http://schemas.microsoft.com/office/powerpoint/2010/main" val="4541404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4E91D3-09CA-BEF9-BE4B-6746CDFAC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5C2940F-2B7B-6889-07FD-4C9BBF0749A8}"/>
              </a:ext>
            </a:extLst>
          </p:cNvPr>
          <p:cNvSpPr>
            <a:spLocks noGrp="1"/>
          </p:cNvSpPr>
          <p:nvPr>
            <p:ph sz="half" idx="1"/>
          </p:nvPr>
        </p:nvSpPr>
        <p:spPr>
          <a:xfrm>
            <a:off x="838200" y="1113183"/>
            <a:ext cx="5181600" cy="5063780"/>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ACAE388-11E6-B289-9D5C-99B720CF410E}"/>
              </a:ext>
            </a:extLst>
          </p:cNvPr>
          <p:cNvSpPr>
            <a:spLocks noGrp="1"/>
          </p:cNvSpPr>
          <p:nvPr>
            <p:ph sz="half" idx="2"/>
          </p:nvPr>
        </p:nvSpPr>
        <p:spPr>
          <a:xfrm>
            <a:off x="6172200" y="1113183"/>
            <a:ext cx="5181600" cy="5063780"/>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422D941E-74F6-06A8-9FAB-5F8D4051C879}"/>
              </a:ext>
            </a:extLst>
          </p:cNvPr>
          <p:cNvSpPr>
            <a:spLocks noGrp="1"/>
          </p:cNvSpPr>
          <p:nvPr>
            <p:ph type="dt" sz="half" idx="10"/>
          </p:nvPr>
        </p:nvSpPr>
        <p:spPr/>
        <p:txBody>
          <a:bodyPr/>
          <a:lstStyle/>
          <a:p>
            <a:fld id="{C4B5E7B8-695E-4956-A391-F21139339BC3}" type="datetime1">
              <a:rPr kumimoji="1" lang="ja-JP" altLang="en-US" smtClean="0"/>
              <a:t>2026/6/29</a:t>
            </a:fld>
            <a:endParaRPr kumimoji="1" lang="ja-JP" altLang="en-US"/>
          </a:p>
        </p:txBody>
      </p:sp>
      <p:sp>
        <p:nvSpPr>
          <p:cNvPr id="6" name="フッター プレースホルダー 5">
            <a:extLst>
              <a:ext uri="{FF2B5EF4-FFF2-40B4-BE49-F238E27FC236}">
                <a16:creationId xmlns:a16="http://schemas.microsoft.com/office/drawing/2014/main" id="{05FDF29A-6F48-2369-E035-BBFD752A8CC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CB1C7C61-77F7-9515-1F7A-E7206AB2A68B}"/>
              </a:ext>
            </a:extLst>
          </p:cNvPr>
          <p:cNvSpPr>
            <a:spLocks noGrp="1"/>
          </p:cNvSpPr>
          <p:nvPr>
            <p:ph type="sldNum" sz="quarter" idx="12"/>
          </p:nvPr>
        </p:nvSpPr>
        <p:spPr>
          <a:xfrm>
            <a:off x="11579086" y="6398730"/>
            <a:ext cx="440635" cy="322745"/>
          </a:xfrm>
          <a:prstGeom prst="rect">
            <a:avLst/>
          </a:prstGeom>
        </p:spPr>
        <p:txBody>
          <a:bodyPr/>
          <a:lstStyle/>
          <a:p>
            <a:fld id="{00D2F285-7DC3-4F9C-8E53-6893EECBFE42}" type="slidenum">
              <a:rPr kumimoji="1" lang="ja-JP" altLang="en-US" smtClean="0"/>
              <a:t>‹#›</a:t>
            </a:fld>
            <a:endParaRPr kumimoji="1" lang="ja-JP" altLang="en-US"/>
          </a:p>
        </p:txBody>
      </p:sp>
      <p:sp>
        <p:nvSpPr>
          <p:cNvPr id="8" name="正方形/長方形 7">
            <a:extLst>
              <a:ext uri="{FF2B5EF4-FFF2-40B4-BE49-F238E27FC236}">
                <a16:creationId xmlns:a16="http://schemas.microsoft.com/office/drawing/2014/main" id="{8BCB9087-06DE-C5F9-6B9D-A14E0FA9092C}"/>
              </a:ext>
            </a:extLst>
          </p:cNvPr>
          <p:cNvSpPr/>
          <p:nvPr userDrawn="1"/>
        </p:nvSpPr>
        <p:spPr>
          <a:xfrm>
            <a:off x="168965" y="178904"/>
            <a:ext cx="258418" cy="71561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3479298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比較">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4AB8F37A-BDED-706A-05BB-3683DADD0867}"/>
              </a:ext>
            </a:extLst>
          </p:cNvPr>
          <p:cNvSpPr>
            <a:spLocks noGrp="1"/>
          </p:cNvSpPr>
          <p:nvPr>
            <p:ph type="body" idx="1"/>
          </p:nvPr>
        </p:nvSpPr>
        <p:spPr>
          <a:xfrm>
            <a:off x="839788" y="1061210"/>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dirty="0"/>
              <a:t>マスター テキストの書式設定</a:t>
            </a:r>
          </a:p>
        </p:txBody>
      </p:sp>
      <p:sp>
        <p:nvSpPr>
          <p:cNvPr id="4" name="コンテンツ プレースホルダー 3">
            <a:extLst>
              <a:ext uri="{FF2B5EF4-FFF2-40B4-BE49-F238E27FC236}">
                <a16:creationId xmlns:a16="http://schemas.microsoft.com/office/drawing/2014/main" id="{30FADE9A-FE8E-0E83-FDAF-38E8B26300FF}"/>
              </a:ext>
            </a:extLst>
          </p:cNvPr>
          <p:cNvSpPr>
            <a:spLocks noGrp="1"/>
          </p:cNvSpPr>
          <p:nvPr>
            <p:ph sz="half" idx="2"/>
          </p:nvPr>
        </p:nvSpPr>
        <p:spPr>
          <a:xfrm>
            <a:off x="839788" y="1945640"/>
            <a:ext cx="5157787" cy="4244023"/>
          </a:xfrm>
        </p:spPr>
        <p:txBody>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5" name="テキスト プレースホルダー 4">
            <a:extLst>
              <a:ext uri="{FF2B5EF4-FFF2-40B4-BE49-F238E27FC236}">
                <a16:creationId xmlns:a16="http://schemas.microsoft.com/office/drawing/2014/main" id="{AB3201C7-FD96-1B05-8259-45D90C2C1D5E}"/>
              </a:ext>
            </a:extLst>
          </p:cNvPr>
          <p:cNvSpPr>
            <a:spLocks noGrp="1"/>
          </p:cNvSpPr>
          <p:nvPr>
            <p:ph type="body" sz="quarter" idx="3"/>
          </p:nvPr>
        </p:nvSpPr>
        <p:spPr>
          <a:xfrm>
            <a:off x="6172200" y="1061210"/>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5C676B96-DCB2-D3CD-CD8D-A99D08D2CE97}"/>
              </a:ext>
            </a:extLst>
          </p:cNvPr>
          <p:cNvSpPr>
            <a:spLocks noGrp="1"/>
          </p:cNvSpPr>
          <p:nvPr>
            <p:ph sz="quarter" idx="4"/>
          </p:nvPr>
        </p:nvSpPr>
        <p:spPr>
          <a:xfrm>
            <a:off x="6172200" y="1945640"/>
            <a:ext cx="5183188" cy="4244023"/>
          </a:xfrm>
        </p:spPr>
        <p:txBody>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7" name="日付プレースホルダー 6">
            <a:extLst>
              <a:ext uri="{FF2B5EF4-FFF2-40B4-BE49-F238E27FC236}">
                <a16:creationId xmlns:a16="http://schemas.microsoft.com/office/drawing/2014/main" id="{6220F162-772C-4DE3-54DC-2FFD11401B3A}"/>
              </a:ext>
            </a:extLst>
          </p:cNvPr>
          <p:cNvSpPr>
            <a:spLocks noGrp="1"/>
          </p:cNvSpPr>
          <p:nvPr>
            <p:ph type="dt" sz="half" idx="10"/>
          </p:nvPr>
        </p:nvSpPr>
        <p:spPr/>
        <p:txBody>
          <a:bodyPr/>
          <a:lstStyle/>
          <a:p>
            <a:fld id="{B03F4676-9088-4480-87BB-D6B9E8174652}" type="datetime1">
              <a:rPr kumimoji="1" lang="ja-JP" altLang="en-US" smtClean="0"/>
              <a:t>2026/6/29</a:t>
            </a:fld>
            <a:endParaRPr kumimoji="1" lang="ja-JP" altLang="en-US"/>
          </a:p>
        </p:txBody>
      </p:sp>
      <p:sp>
        <p:nvSpPr>
          <p:cNvPr id="8" name="フッター プレースホルダー 7">
            <a:extLst>
              <a:ext uri="{FF2B5EF4-FFF2-40B4-BE49-F238E27FC236}">
                <a16:creationId xmlns:a16="http://schemas.microsoft.com/office/drawing/2014/main" id="{31F680C6-9751-B30E-BF7B-D7F4B2F7D3F4}"/>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2B25A187-8594-8F94-2657-1AD50A132624}"/>
              </a:ext>
            </a:extLst>
          </p:cNvPr>
          <p:cNvSpPr>
            <a:spLocks noGrp="1"/>
          </p:cNvSpPr>
          <p:nvPr>
            <p:ph type="sldNum" sz="quarter" idx="12"/>
          </p:nvPr>
        </p:nvSpPr>
        <p:spPr>
          <a:xfrm>
            <a:off x="11579086" y="6398730"/>
            <a:ext cx="440635" cy="322745"/>
          </a:xfrm>
          <a:prstGeom prst="rect">
            <a:avLst/>
          </a:prstGeom>
        </p:spPr>
        <p:txBody>
          <a:bodyPr/>
          <a:lstStyle/>
          <a:p>
            <a:fld id="{00D2F285-7DC3-4F9C-8E53-6893EECBFE42}" type="slidenum">
              <a:rPr kumimoji="1" lang="ja-JP" altLang="en-US" smtClean="0"/>
              <a:t>‹#›</a:t>
            </a:fld>
            <a:endParaRPr kumimoji="1" lang="ja-JP" altLang="en-US"/>
          </a:p>
        </p:txBody>
      </p:sp>
      <p:sp>
        <p:nvSpPr>
          <p:cNvPr id="10" name="タイトル 1">
            <a:extLst>
              <a:ext uri="{FF2B5EF4-FFF2-40B4-BE49-F238E27FC236}">
                <a16:creationId xmlns:a16="http://schemas.microsoft.com/office/drawing/2014/main" id="{6267884E-EA86-7E0C-96A5-E73B83B0F0A8}"/>
              </a:ext>
            </a:extLst>
          </p:cNvPr>
          <p:cNvSpPr>
            <a:spLocks noGrp="1"/>
          </p:cNvSpPr>
          <p:nvPr>
            <p:ph type="title"/>
          </p:nvPr>
        </p:nvSpPr>
        <p:spPr>
          <a:xfrm>
            <a:off x="520148" y="178905"/>
            <a:ext cx="10515600" cy="715618"/>
          </a:xfrm>
        </p:spPr>
        <p:txBody>
          <a:bodyPr/>
          <a:lstStyle/>
          <a:p>
            <a:r>
              <a:rPr kumimoji="1" lang="ja-JP" altLang="en-US"/>
              <a:t>マスター タイトルの書式設定</a:t>
            </a:r>
          </a:p>
        </p:txBody>
      </p:sp>
      <p:sp>
        <p:nvSpPr>
          <p:cNvPr id="11" name="正方形/長方形 10">
            <a:extLst>
              <a:ext uri="{FF2B5EF4-FFF2-40B4-BE49-F238E27FC236}">
                <a16:creationId xmlns:a16="http://schemas.microsoft.com/office/drawing/2014/main" id="{A0FC5D90-B701-9DB7-149D-F7DC40CBCF51}"/>
              </a:ext>
            </a:extLst>
          </p:cNvPr>
          <p:cNvSpPr/>
          <p:nvPr userDrawn="1"/>
        </p:nvSpPr>
        <p:spPr>
          <a:xfrm>
            <a:off x="168965" y="178904"/>
            <a:ext cx="258418" cy="71561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6770678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3CA0A4-75F9-5CA0-6E7A-3E712FF7B45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9B8DFE20-459C-4A0B-13DF-9141BC7C7BBB}"/>
              </a:ext>
            </a:extLst>
          </p:cNvPr>
          <p:cNvSpPr>
            <a:spLocks noGrp="1"/>
          </p:cNvSpPr>
          <p:nvPr>
            <p:ph type="dt" sz="half" idx="10"/>
          </p:nvPr>
        </p:nvSpPr>
        <p:spPr/>
        <p:txBody>
          <a:bodyPr/>
          <a:lstStyle/>
          <a:p>
            <a:fld id="{5AD13E53-2127-4652-900A-E1D3C2639990}" type="datetime1">
              <a:rPr kumimoji="1" lang="ja-JP" altLang="en-US" smtClean="0"/>
              <a:t>2026/6/29</a:t>
            </a:fld>
            <a:endParaRPr kumimoji="1" lang="ja-JP" altLang="en-US"/>
          </a:p>
        </p:txBody>
      </p:sp>
      <p:sp>
        <p:nvSpPr>
          <p:cNvPr id="4" name="フッター プレースホルダー 3">
            <a:extLst>
              <a:ext uri="{FF2B5EF4-FFF2-40B4-BE49-F238E27FC236}">
                <a16:creationId xmlns:a16="http://schemas.microsoft.com/office/drawing/2014/main" id="{23A89080-C715-B4FB-D7E1-EAB44D96CA6C}"/>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10AC1A47-42BD-BA6C-4DC8-C4C3B8D4F7C0}"/>
              </a:ext>
            </a:extLst>
          </p:cNvPr>
          <p:cNvSpPr>
            <a:spLocks noGrp="1"/>
          </p:cNvSpPr>
          <p:nvPr>
            <p:ph type="sldNum" sz="quarter" idx="12"/>
          </p:nvPr>
        </p:nvSpPr>
        <p:spPr>
          <a:xfrm>
            <a:off x="11579086" y="6398730"/>
            <a:ext cx="440635" cy="322745"/>
          </a:xfrm>
          <a:prstGeom prst="rect">
            <a:avLst/>
          </a:prstGeom>
        </p:spPr>
        <p:txBody>
          <a:bodyPr/>
          <a:lstStyle/>
          <a:p>
            <a:fld id="{00D2F285-7DC3-4F9C-8E53-6893EECBFE42}" type="slidenum">
              <a:rPr kumimoji="1" lang="ja-JP" altLang="en-US" smtClean="0"/>
              <a:t>‹#›</a:t>
            </a:fld>
            <a:endParaRPr kumimoji="1" lang="ja-JP" altLang="en-US"/>
          </a:p>
        </p:txBody>
      </p:sp>
      <p:sp>
        <p:nvSpPr>
          <p:cNvPr id="6" name="正方形/長方形 5">
            <a:extLst>
              <a:ext uri="{FF2B5EF4-FFF2-40B4-BE49-F238E27FC236}">
                <a16:creationId xmlns:a16="http://schemas.microsoft.com/office/drawing/2014/main" id="{AA68F929-6671-31E9-9076-F185534937F1}"/>
              </a:ext>
            </a:extLst>
          </p:cNvPr>
          <p:cNvSpPr/>
          <p:nvPr userDrawn="1"/>
        </p:nvSpPr>
        <p:spPr>
          <a:xfrm>
            <a:off x="168965" y="178904"/>
            <a:ext cx="258418" cy="71561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8266250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E05F465-D9D7-E119-9A13-21CF39A5A10E}"/>
              </a:ext>
            </a:extLst>
          </p:cNvPr>
          <p:cNvSpPr>
            <a:spLocks noGrp="1"/>
          </p:cNvSpPr>
          <p:nvPr>
            <p:ph type="dt" sz="half" idx="10"/>
          </p:nvPr>
        </p:nvSpPr>
        <p:spPr/>
        <p:txBody>
          <a:bodyPr/>
          <a:lstStyle/>
          <a:p>
            <a:fld id="{D119106F-8324-489E-80F0-B5099391AEEF}" type="datetime1">
              <a:rPr kumimoji="1" lang="ja-JP" altLang="en-US" smtClean="0"/>
              <a:t>2026/6/29</a:t>
            </a:fld>
            <a:endParaRPr kumimoji="1" lang="ja-JP" altLang="en-US"/>
          </a:p>
        </p:txBody>
      </p:sp>
      <p:sp>
        <p:nvSpPr>
          <p:cNvPr id="3" name="フッター プレースホルダー 2">
            <a:extLst>
              <a:ext uri="{FF2B5EF4-FFF2-40B4-BE49-F238E27FC236}">
                <a16:creationId xmlns:a16="http://schemas.microsoft.com/office/drawing/2014/main" id="{5589F0BD-206F-158C-A1F4-6DB309BBF52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9203E068-E8BB-4C2A-6177-C97E57446980}"/>
              </a:ext>
            </a:extLst>
          </p:cNvPr>
          <p:cNvSpPr>
            <a:spLocks noGrp="1"/>
          </p:cNvSpPr>
          <p:nvPr>
            <p:ph type="sldNum" sz="quarter" idx="12"/>
          </p:nvPr>
        </p:nvSpPr>
        <p:spPr>
          <a:xfrm>
            <a:off x="11579086" y="6398730"/>
            <a:ext cx="440635" cy="322745"/>
          </a:xfrm>
          <a:prstGeom prst="rect">
            <a:avLst/>
          </a:prstGeom>
        </p:spPr>
        <p:txBody>
          <a:bodyPr/>
          <a:lstStyle/>
          <a:p>
            <a:fld id="{00D2F285-7DC3-4F9C-8E53-6893EECBFE42}" type="slidenum">
              <a:rPr kumimoji="1" lang="ja-JP" altLang="en-US" smtClean="0"/>
              <a:t>‹#›</a:t>
            </a:fld>
            <a:endParaRPr kumimoji="1" lang="ja-JP" altLang="en-US"/>
          </a:p>
        </p:txBody>
      </p:sp>
    </p:spTree>
    <p:extLst>
      <p:ext uri="{BB962C8B-B14F-4D97-AF65-F5344CB8AC3E}">
        <p14:creationId xmlns:p14="http://schemas.microsoft.com/office/powerpoint/2010/main" val="37899169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FD47AD-3CED-C3B7-58F0-F5AE2544996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825785E-0E9B-BB75-A563-98B9C438F0B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7B87E52-F741-2731-39C5-E0A526CBAB0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B4F04CE-6D44-057E-9D4F-FAB667D3165D}"/>
              </a:ext>
            </a:extLst>
          </p:cNvPr>
          <p:cNvSpPr>
            <a:spLocks noGrp="1"/>
          </p:cNvSpPr>
          <p:nvPr>
            <p:ph type="dt" sz="half" idx="10"/>
          </p:nvPr>
        </p:nvSpPr>
        <p:spPr/>
        <p:txBody>
          <a:bodyPr/>
          <a:lstStyle/>
          <a:p>
            <a:fld id="{77EE3E8E-8355-49C9-A419-1543DCC21B1E}" type="datetime1">
              <a:rPr kumimoji="1" lang="ja-JP" altLang="en-US" smtClean="0"/>
              <a:t>2026/6/29</a:t>
            </a:fld>
            <a:endParaRPr kumimoji="1" lang="ja-JP" altLang="en-US"/>
          </a:p>
        </p:txBody>
      </p:sp>
      <p:sp>
        <p:nvSpPr>
          <p:cNvPr id="6" name="フッター プレースホルダー 5">
            <a:extLst>
              <a:ext uri="{FF2B5EF4-FFF2-40B4-BE49-F238E27FC236}">
                <a16:creationId xmlns:a16="http://schemas.microsoft.com/office/drawing/2014/main" id="{AEDE3408-2CE9-B3D2-B2CF-BF2084098A83}"/>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B77D3A66-278B-650A-E149-47BF3ACEBD2A}"/>
              </a:ext>
            </a:extLst>
          </p:cNvPr>
          <p:cNvSpPr>
            <a:spLocks noGrp="1"/>
          </p:cNvSpPr>
          <p:nvPr>
            <p:ph type="sldNum" sz="quarter" idx="12"/>
          </p:nvPr>
        </p:nvSpPr>
        <p:spPr>
          <a:xfrm>
            <a:off x="11579086" y="6398730"/>
            <a:ext cx="440635" cy="322745"/>
          </a:xfrm>
          <a:prstGeom prst="rect">
            <a:avLst/>
          </a:prstGeom>
        </p:spPr>
        <p:txBody>
          <a:bodyPr/>
          <a:lstStyle/>
          <a:p>
            <a:fld id="{00D2F285-7DC3-4F9C-8E53-6893EECBFE42}" type="slidenum">
              <a:rPr kumimoji="1" lang="ja-JP" altLang="en-US" smtClean="0"/>
              <a:t>‹#›</a:t>
            </a:fld>
            <a:endParaRPr kumimoji="1" lang="ja-JP" altLang="en-US"/>
          </a:p>
        </p:txBody>
      </p:sp>
    </p:spTree>
    <p:extLst>
      <p:ext uri="{BB962C8B-B14F-4D97-AF65-F5344CB8AC3E}">
        <p14:creationId xmlns:p14="http://schemas.microsoft.com/office/powerpoint/2010/main" val="28059946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ED2CDBC-84F9-BD05-76E3-16126FC63712}"/>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F87A30A6-61A9-0346-CB3B-83D405CEAF6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F0088016-197D-FCF0-33ED-3064B16F00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56701F71-A41D-C624-F2AF-CE19A1B5549B}"/>
              </a:ext>
            </a:extLst>
          </p:cNvPr>
          <p:cNvSpPr>
            <a:spLocks noGrp="1"/>
          </p:cNvSpPr>
          <p:nvPr>
            <p:ph type="dt" sz="half" idx="10"/>
          </p:nvPr>
        </p:nvSpPr>
        <p:spPr/>
        <p:txBody>
          <a:bodyPr/>
          <a:lstStyle/>
          <a:p>
            <a:fld id="{6DF27C48-78BE-4858-B40C-3517251B57DE}" type="datetime1">
              <a:rPr kumimoji="1" lang="ja-JP" altLang="en-US" smtClean="0"/>
              <a:t>2026/6/29</a:t>
            </a:fld>
            <a:endParaRPr kumimoji="1" lang="ja-JP" altLang="en-US"/>
          </a:p>
        </p:txBody>
      </p:sp>
      <p:sp>
        <p:nvSpPr>
          <p:cNvPr id="6" name="フッター プレースホルダー 5">
            <a:extLst>
              <a:ext uri="{FF2B5EF4-FFF2-40B4-BE49-F238E27FC236}">
                <a16:creationId xmlns:a16="http://schemas.microsoft.com/office/drawing/2014/main" id="{C2A2C620-F7BC-A851-BCE7-F8119C34E3B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52A2DE6-EAE7-9C53-241F-F7DFCECFEB90}"/>
              </a:ext>
            </a:extLst>
          </p:cNvPr>
          <p:cNvSpPr>
            <a:spLocks noGrp="1"/>
          </p:cNvSpPr>
          <p:nvPr>
            <p:ph type="sldNum" sz="quarter" idx="12"/>
          </p:nvPr>
        </p:nvSpPr>
        <p:spPr>
          <a:xfrm>
            <a:off x="11579086" y="6398730"/>
            <a:ext cx="440635" cy="322745"/>
          </a:xfrm>
          <a:prstGeom prst="rect">
            <a:avLst/>
          </a:prstGeom>
        </p:spPr>
        <p:txBody>
          <a:bodyPr/>
          <a:lstStyle/>
          <a:p>
            <a:fld id="{00D2F285-7DC3-4F9C-8E53-6893EECBFE42}" type="slidenum">
              <a:rPr kumimoji="1" lang="ja-JP" altLang="en-US" smtClean="0"/>
              <a:t>‹#›</a:t>
            </a:fld>
            <a:endParaRPr kumimoji="1" lang="ja-JP" altLang="en-US"/>
          </a:p>
        </p:txBody>
      </p:sp>
    </p:spTree>
    <p:extLst>
      <p:ext uri="{BB962C8B-B14F-4D97-AF65-F5344CB8AC3E}">
        <p14:creationId xmlns:p14="http://schemas.microsoft.com/office/powerpoint/2010/main" val="27448145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C0FFA52-9DC5-DED0-227B-B3D9C8B7AF36}"/>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64A4020-2362-4B10-7FA3-2B49D6D41495}"/>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94EA4D7-278B-F0F1-D479-8D7F6ECB84ED}"/>
              </a:ext>
            </a:extLst>
          </p:cNvPr>
          <p:cNvSpPr>
            <a:spLocks noGrp="1"/>
          </p:cNvSpPr>
          <p:nvPr>
            <p:ph type="dt" sz="half" idx="10"/>
          </p:nvPr>
        </p:nvSpPr>
        <p:spPr/>
        <p:txBody>
          <a:bodyPr/>
          <a:lstStyle/>
          <a:p>
            <a:fld id="{8DC7D0F8-DFCF-4320-A332-F83FD0E7F027}" type="datetime1">
              <a:rPr kumimoji="1" lang="ja-JP" altLang="en-US" smtClean="0"/>
              <a:t>2026/6/29</a:t>
            </a:fld>
            <a:endParaRPr kumimoji="1" lang="ja-JP" altLang="en-US"/>
          </a:p>
        </p:txBody>
      </p:sp>
      <p:sp>
        <p:nvSpPr>
          <p:cNvPr id="5" name="フッター プレースホルダー 4">
            <a:extLst>
              <a:ext uri="{FF2B5EF4-FFF2-40B4-BE49-F238E27FC236}">
                <a16:creationId xmlns:a16="http://schemas.microsoft.com/office/drawing/2014/main" id="{7EEE354D-64D1-3C98-633F-F8593CE194E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CA47D47-FC30-8C8D-7265-EECEE0539686}"/>
              </a:ext>
            </a:extLst>
          </p:cNvPr>
          <p:cNvSpPr>
            <a:spLocks noGrp="1"/>
          </p:cNvSpPr>
          <p:nvPr>
            <p:ph type="sldNum" sz="quarter" idx="12"/>
          </p:nvPr>
        </p:nvSpPr>
        <p:spPr>
          <a:xfrm>
            <a:off x="11579086" y="6398730"/>
            <a:ext cx="440635" cy="322745"/>
          </a:xfrm>
          <a:prstGeom prst="rect">
            <a:avLst/>
          </a:prstGeom>
        </p:spPr>
        <p:txBody>
          <a:bodyPr/>
          <a:lstStyle/>
          <a:p>
            <a:fld id="{00D2F285-7DC3-4F9C-8E53-6893EECBFE42}" type="slidenum">
              <a:rPr kumimoji="1" lang="ja-JP" altLang="en-US" smtClean="0"/>
              <a:t>‹#›</a:t>
            </a:fld>
            <a:endParaRPr kumimoji="1" lang="ja-JP" altLang="en-US"/>
          </a:p>
        </p:txBody>
      </p:sp>
    </p:spTree>
    <p:extLst>
      <p:ext uri="{BB962C8B-B14F-4D97-AF65-F5344CB8AC3E}">
        <p14:creationId xmlns:p14="http://schemas.microsoft.com/office/powerpoint/2010/main" val="38858997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42A1E9F-D1DF-B412-F783-0DE4D85B068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E5779C8-D4AA-7702-F110-814B724BB094}"/>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2D7F68C-D48B-E2AD-A775-4A64BD8CEB24}"/>
              </a:ext>
            </a:extLst>
          </p:cNvPr>
          <p:cNvSpPr>
            <a:spLocks noGrp="1"/>
          </p:cNvSpPr>
          <p:nvPr>
            <p:ph type="dt" sz="half" idx="10"/>
          </p:nvPr>
        </p:nvSpPr>
        <p:spPr/>
        <p:txBody>
          <a:bodyPr/>
          <a:lstStyle/>
          <a:p>
            <a:fld id="{1D3E35CD-CAC0-46AD-A2FD-B231044FB32F}" type="datetime1">
              <a:rPr kumimoji="1" lang="ja-JP" altLang="en-US" smtClean="0"/>
              <a:t>2026/6/29</a:t>
            </a:fld>
            <a:endParaRPr kumimoji="1" lang="ja-JP" altLang="en-US"/>
          </a:p>
        </p:txBody>
      </p:sp>
      <p:sp>
        <p:nvSpPr>
          <p:cNvPr id="5" name="フッター プレースホルダー 4">
            <a:extLst>
              <a:ext uri="{FF2B5EF4-FFF2-40B4-BE49-F238E27FC236}">
                <a16:creationId xmlns:a16="http://schemas.microsoft.com/office/drawing/2014/main" id="{85418032-A14D-B993-D3C1-D69ACB2ED89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B83553C-677B-8A04-2452-34F8C17A33AF}"/>
              </a:ext>
            </a:extLst>
          </p:cNvPr>
          <p:cNvSpPr>
            <a:spLocks noGrp="1"/>
          </p:cNvSpPr>
          <p:nvPr>
            <p:ph type="sldNum" sz="quarter" idx="12"/>
          </p:nvPr>
        </p:nvSpPr>
        <p:spPr>
          <a:xfrm>
            <a:off x="11579086" y="6398730"/>
            <a:ext cx="440635" cy="322745"/>
          </a:xfrm>
          <a:prstGeom prst="rect">
            <a:avLst/>
          </a:prstGeom>
        </p:spPr>
        <p:txBody>
          <a:bodyPr/>
          <a:lstStyle/>
          <a:p>
            <a:fld id="{00D2F285-7DC3-4F9C-8E53-6893EECBFE42}" type="slidenum">
              <a:rPr kumimoji="1" lang="ja-JP" altLang="en-US" smtClean="0"/>
              <a:t>‹#›</a:t>
            </a:fld>
            <a:endParaRPr kumimoji="1" lang="ja-JP" altLang="en-US"/>
          </a:p>
        </p:txBody>
      </p:sp>
    </p:spTree>
    <p:extLst>
      <p:ext uri="{BB962C8B-B14F-4D97-AF65-F5344CB8AC3E}">
        <p14:creationId xmlns:p14="http://schemas.microsoft.com/office/powerpoint/2010/main" val="1533728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556556F-5F02-1FD8-EE95-748F5263F31C}"/>
              </a:ext>
            </a:extLst>
          </p:cNvPr>
          <p:cNvSpPr>
            <a:spLocks noGrp="1"/>
          </p:cNvSpPr>
          <p:nvPr>
            <p:ph type="title"/>
          </p:nvPr>
        </p:nvSpPr>
        <p:spPr>
          <a:xfrm>
            <a:off x="520148" y="178905"/>
            <a:ext cx="10515600" cy="715618"/>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E454486-23D8-B5BB-DDFD-4B172C4674B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AF28D69-3449-0B51-5257-B225CA39C1D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A693989-4497-462D-9D80-A771669ACCD6}" type="datetime1">
              <a:rPr kumimoji="1" lang="ja-JP" altLang="en-US" smtClean="0"/>
              <a:t>2026/6/29</a:t>
            </a:fld>
            <a:endParaRPr kumimoji="1" lang="ja-JP" altLang="en-US"/>
          </a:p>
        </p:txBody>
      </p:sp>
      <p:sp>
        <p:nvSpPr>
          <p:cNvPr id="5" name="フッター プレースホルダー 4">
            <a:extLst>
              <a:ext uri="{FF2B5EF4-FFF2-40B4-BE49-F238E27FC236}">
                <a16:creationId xmlns:a16="http://schemas.microsoft.com/office/drawing/2014/main" id="{83A8903C-A9F3-8A65-EA97-15596FE41F9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7C2EED4D-7A0B-F5BD-62B7-2A83F75F38A1}"/>
              </a:ext>
            </a:extLst>
          </p:cNvPr>
          <p:cNvSpPr>
            <a:spLocks noGrp="1"/>
          </p:cNvSpPr>
          <p:nvPr>
            <p:ph type="sldNum" sz="quarter" idx="4"/>
          </p:nvPr>
        </p:nvSpPr>
        <p:spPr>
          <a:xfrm>
            <a:off x="11579086" y="6398730"/>
            <a:ext cx="440635" cy="322745"/>
          </a:xfrm>
          <a:prstGeom prst="rect">
            <a:avLst/>
          </a:prstGeom>
        </p:spPr>
        <p:txBody>
          <a:bodyPr vert="horz" lIns="91440" tIns="45720" rIns="91440" bIns="45720" rtlCol="0" anchor="ctr"/>
          <a:lstStyle>
            <a:lvl1pPr algn="ctr">
              <a:defRPr sz="1200">
                <a:solidFill>
                  <a:schemeClr val="tx1">
                    <a:tint val="82000"/>
                  </a:schemeClr>
                </a:solidFill>
              </a:defRPr>
            </a:lvl1pPr>
          </a:lstStyle>
          <a:p>
            <a:pPr algn="ctr"/>
            <a:fld id="{00D2F285-7DC3-4F9C-8E53-6893EECBFE42}" type="slidenum">
              <a:rPr lang="ja-JP" altLang="en-US" smtClean="0"/>
              <a:pPr/>
              <a:t>‹#›</a:t>
            </a:fld>
            <a:endParaRPr lang="ja-JP" altLang="en-US" dirty="0"/>
          </a:p>
        </p:txBody>
      </p:sp>
    </p:spTree>
    <p:extLst>
      <p:ext uri="{BB962C8B-B14F-4D97-AF65-F5344CB8AC3E}">
        <p14:creationId xmlns:p14="http://schemas.microsoft.com/office/powerpoint/2010/main" val="24007189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05E02-7777-670B-E224-96A3063B296C}"/>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63F803FF-2208-C171-B8F5-082EAD45B91D}"/>
              </a:ext>
            </a:extLst>
          </p:cNvPr>
          <p:cNvSpPr/>
          <p:nvPr/>
        </p:nvSpPr>
        <p:spPr>
          <a:xfrm>
            <a:off x="0" y="0"/>
            <a:ext cx="1085349" cy="6858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B7317A3C-2164-F1DC-E83C-2BE5140CDCDB}"/>
              </a:ext>
            </a:extLst>
          </p:cNvPr>
          <p:cNvSpPr>
            <a:spLocks noGrp="1"/>
          </p:cNvSpPr>
          <p:nvPr>
            <p:ph type="ctrTitle"/>
          </p:nvPr>
        </p:nvSpPr>
        <p:spPr>
          <a:xfrm>
            <a:off x="1763535" y="2727989"/>
            <a:ext cx="4040372" cy="1493874"/>
          </a:xfrm>
        </p:spPr>
        <p:txBody>
          <a:bodyPr anchor="ctr">
            <a:normAutofit/>
          </a:bodyPr>
          <a:lstStyle/>
          <a:p>
            <a:r>
              <a:rPr kumimoji="1" lang="en-US" altLang="ja-JP" sz="4400" dirty="0"/>
              <a:t>6</a:t>
            </a:r>
            <a:r>
              <a:rPr kumimoji="1" lang="ja-JP" altLang="en-US" sz="4400" dirty="0"/>
              <a:t>月</a:t>
            </a:r>
            <a:r>
              <a:rPr lang="ja-JP" altLang="en-US" sz="4400" dirty="0"/>
              <a:t>研修報告</a:t>
            </a:r>
            <a:endParaRPr kumimoji="1" lang="ja-JP" altLang="en-US" sz="4400" dirty="0"/>
          </a:p>
        </p:txBody>
      </p:sp>
      <p:sp>
        <p:nvSpPr>
          <p:cNvPr id="3" name="字幕 2">
            <a:extLst>
              <a:ext uri="{FF2B5EF4-FFF2-40B4-BE49-F238E27FC236}">
                <a16:creationId xmlns:a16="http://schemas.microsoft.com/office/drawing/2014/main" id="{70331666-736D-D476-BB9B-E21F54913954}"/>
              </a:ext>
            </a:extLst>
          </p:cNvPr>
          <p:cNvSpPr>
            <a:spLocks noGrp="1"/>
          </p:cNvSpPr>
          <p:nvPr>
            <p:ph type="subTitle" idx="1"/>
          </p:nvPr>
        </p:nvSpPr>
        <p:spPr>
          <a:xfrm>
            <a:off x="7370023" y="2569978"/>
            <a:ext cx="4040369" cy="1809897"/>
          </a:xfrm>
        </p:spPr>
        <p:txBody>
          <a:bodyPr anchor="ctr">
            <a:normAutofit/>
          </a:bodyPr>
          <a:lstStyle/>
          <a:p>
            <a:pPr algn="l"/>
            <a:r>
              <a:rPr kumimoji="1" lang="ja-JP" altLang="en-US" dirty="0"/>
              <a:t>ウィーメックス株式会社</a:t>
            </a:r>
            <a:endParaRPr kumimoji="1" lang="en-US" altLang="ja-JP" dirty="0"/>
          </a:p>
          <a:p>
            <a:pPr algn="l"/>
            <a:r>
              <a:rPr lang="ja-JP" altLang="en-US" dirty="0"/>
              <a:t>村山 惠一郎</a:t>
            </a:r>
            <a:endParaRPr kumimoji="1" lang="en-US" altLang="ja-JP" dirty="0"/>
          </a:p>
        </p:txBody>
      </p:sp>
      <p:sp>
        <p:nvSpPr>
          <p:cNvPr id="5" name="テキスト ボックス 4">
            <a:extLst>
              <a:ext uri="{FF2B5EF4-FFF2-40B4-BE49-F238E27FC236}">
                <a16:creationId xmlns:a16="http://schemas.microsoft.com/office/drawing/2014/main" id="{A61D8C24-4D89-8049-E9D6-0F96E0D1BD00}"/>
              </a:ext>
            </a:extLst>
          </p:cNvPr>
          <p:cNvSpPr txBox="1"/>
          <p:nvPr/>
        </p:nvSpPr>
        <p:spPr>
          <a:xfrm>
            <a:off x="10731795" y="107766"/>
            <a:ext cx="1357195" cy="369332"/>
          </a:xfrm>
          <a:prstGeom prst="rect">
            <a:avLst/>
          </a:prstGeom>
          <a:noFill/>
        </p:spPr>
        <p:txBody>
          <a:bodyPr wrap="square" rtlCol="0">
            <a:spAutoFit/>
          </a:bodyPr>
          <a:lstStyle/>
          <a:p>
            <a:pPr algn="ctr"/>
            <a:r>
              <a:rPr lang="en-US" altLang="ja-JP" dirty="0"/>
              <a:t>2026/06/30</a:t>
            </a:r>
            <a:endParaRPr kumimoji="1" lang="ja-JP" altLang="en-US" dirty="0"/>
          </a:p>
        </p:txBody>
      </p:sp>
      <p:cxnSp>
        <p:nvCxnSpPr>
          <p:cNvPr id="7" name="直線コネクタ 6">
            <a:extLst>
              <a:ext uri="{FF2B5EF4-FFF2-40B4-BE49-F238E27FC236}">
                <a16:creationId xmlns:a16="http://schemas.microsoft.com/office/drawing/2014/main" id="{721B611A-6EDE-501F-1A80-CFD5F2699247}"/>
              </a:ext>
            </a:extLst>
          </p:cNvPr>
          <p:cNvCxnSpPr>
            <a:cxnSpLocks/>
          </p:cNvCxnSpPr>
          <p:nvPr/>
        </p:nvCxnSpPr>
        <p:spPr>
          <a:xfrm>
            <a:off x="6586965" y="2629638"/>
            <a:ext cx="0" cy="1690576"/>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360791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四角形: 角を丸くする 10">
            <a:extLst>
              <a:ext uri="{FF2B5EF4-FFF2-40B4-BE49-F238E27FC236}">
                <a16:creationId xmlns:a16="http://schemas.microsoft.com/office/drawing/2014/main" id="{C22A34E7-ECC5-39BF-C605-CD356E32A912}"/>
              </a:ext>
            </a:extLst>
          </p:cNvPr>
          <p:cNvSpPr/>
          <p:nvPr/>
        </p:nvSpPr>
        <p:spPr>
          <a:xfrm>
            <a:off x="838196" y="1691120"/>
            <a:ext cx="10515600" cy="1413587"/>
          </a:xfrm>
          <a:prstGeom prst="roundRect">
            <a:avLst>
              <a:gd name="adj" fmla="val 6746"/>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タイトル 4">
            <a:extLst>
              <a:ext uri="{FF2B5EF4-FFF2-40B4-BE49-F238E27FC236}">
                <a16:creationId xmlns:a16="http://schemas.microsoft.com/office/drawing/2014/main" id="{0535A51B-9514-46A3-6E3E-727E24416C56}"/>
              </a:ext>
            </a:extLst>
          </p:cNvPr>
          <p:cNvSpPr>
            <a:spLocks noGrp="1"/>
          </p:cNvSpPr>
          <p:nvPr>
            <p:ph type="title"/>
          </p:nvPr>
        </p:nvSpPr>
        <p:spPr/>
        <p:txBody>
          <a:bodyPr/>
          <a:lstStyle/>
          <a:p>
            <a:r>
              <a:rPr lang="ja-JP" altLang="en-US" dirty="0"/>
              <a:t>今月の研修内容</a:t>
            </a:r>
          </a:p>
        </p:txBody>
      </p:sp>
      <p:sp>
        <p:nvSpPr>
          <p:cNvPr id="4" name="スライド番号プレースホルダー 3">
            <a:extLst>
              <a:ext uri="{FF2B5EF4-FFF2-40B4-BE49-F238E27FC236}">
                <a16:creationId xmlns:a16="http://schemas.microsoft.com/office/drawing/2014/main" id="{6EDAF166-1FC5-AF8E-C385-347DF0D65805}"/>
              </a:ext>
            </a:extLst>
          </p:cNvPr>
          <p:cNvSpPr>
            <a:spLocks noGrp="1"/>
          </p:cNvSpPr>
          <p:nvPr>
            <p:ph type="sldNum" sz="quarter" idx="12"/>
          </p:nvPr>
        </p:nvSpPr>
        <p:spPr/>
        <p:txBody>
          <a:bodyPr/>
          <a:lstStyle/>
          <a:p>
            <a:fld id="{00D2F285-7DC3-4F9C-8E53-6893EECBFE42}" type="slidenum">
              <a:rPr kumimoji="1" lang="ja-JP" altLang="en-US" smtClean="0"/>
              <a:t>2</a:t>
            </a:fld>
            <a:endParaRPr kumimoji="1" lang="ja-JP" altLang="en-US"/>
          </a:p>
        </p:txBody>
      </p:sp>
      <p:sp>
        <p:nvSpPr>
          <p:cNvPr id="8" name="テキスト ボックス 7">
            <a:extLst>
              <a:ext uri="{FF2B5EF4-FFF2-40B4-BE49-F238E27FC236}">
                <a16:creationId xmlns:a16="http://schemas.microsoft.com/office/drawing/2014/main" id="{905150C6-1396-3573-1251-3C1843108ECE}"/>
              </a:ext>
            </a:extLst>
          </p:cNvPr>
          <p:cNvSpPr txBox="1"/>
          <p:nvPr/>
        </p:nvSpPr>
        <p:spPr>
          <a:xfrm>
            <a:off x="1874332" y="1836863"/>
            <a:ext cx="6032421" cy="461665"/>
          </a:xfrm>
          <a:prstGeom prst="rect">
            <a:avLst/>
          </a:prstGeom>
          <a:noFill/>
        </p:spPr>
        <p:txBody>
          <a:bodyPr wrap="none" rtlCol="0">
            <a:spAutoFit/>
          </a:bodyPr>
          <a:lstStyle/>
          <a:p>
            <a:r>
              <a:rPr kumimoji="1" lang="ja-JP" altLang="en-US" sz="2400" dirty="0">
                <a:solidFill>
                  <a:schemeClr val="bg1"/>
                </a:solidFill>
              </a:rPr>
              <a:t>①ドメイン駆動設計の基本理念を理解する</a:t>
            </a:r>
          </a:p>
        </p:txBody>
      </p:sp>
      <p:sp>
        <p:nvSpPr>
          <p:cNvPr id="12" name="テキスト ボックス 11">
            <a:extLst>
              <a:ext uri="{FF2B5EF4-FFF2-40B4-BE49-F238E27FC236}">
                <a16:creationId xmlns:a16="http://schemas.microsoft.com/office/drawing/2014/main" id="{FE34AFB0-3523-2DA9-130B-BABD9628E290}"/>
              </a:ext>
            </a:extLst>
          </p:cNvPr>
          <p:cNvSpPr txBox="1"/>
          <p:nvPr/>
        </p:nvSpPr>
        <p:spPr>
          <a:xfrm>
            <a:off x="1874332" y="2502198"/>
            <a:ext cx="7571303" cy="461665"/>
          </a:xfrm>
          <a:prstGeom prst="rect">
            <a:avLst/>
          </a:prstGeom>
          <a:noFill/>
        </p:spPr>
        <p:txBody>
          <a:bodyPr wrap="none" rtlCol="0">
            <a:spAutoFit/>
          </a:bodyPr>
          <a:lstStyle/>
          <a:p>
            <a:r>
              <a:rPr kumimoji="1" lang="ja-JP" altLang="en-US" sz="2400" dirty="0">
                <a:solidFill>
                  <a:schemeClr val="bg1"/>
                </a:solidFill>
              </a:rPr>
              <a:t>②様々なツールや言語を体験して何ができるかを知る</a:t>
            </a:r>
          </a:p>
        </p:txBody>
      </p:sp>
      <p:sp>
        <p:nvSpPr>
          <p:cNvPr id="13" name="テキスト ボックス 12">
            <a:extLst>
              <a:ext uri="{FF2B5EF4-FFF2-40B4-BE49-F238E27FC236}">
                <a16:creationId xmlns:a16="http://schemas.microsoft.com/office/drawing/2014/main" id="{1830CCB3-11FF-B9EC-6343-9AC3E9D1CC84}"/>
              </a:ext>
            </a:extLst>
          </p:cNvPr>
          <p:cNvSpPr txBox="1"/>
          <p:nvPr/>
        </p:nvSpPr>
        <p:spPr>
          <a:xfrm>
            <a:off x="838199" y="1167900"/>
            <a:ext cx="1851837" cy="523220"/>
          </a:xfrm>
          <a:prstGeom prst="rect">
            <a:avLst/>
          </a:prstGeom>
          <a:noFill/>
        </p:spPr>
        <p:txBody>
          <a:bodyPr wrap="square" rtlCol="0">
            <a:spAutoFit/>
          </a:bodyPr>
          <a:lstStyle/>
          <a:p>
            <a:pPr marL="457200" indent="-457200">
              <a:buFont typeface="Wingdings" panose="05000000000000000000" pitchFamily="2" charset="2"/>
              <a:buChar char="n"/>
            </a:pPr>
            <a:r>
              <a:rPr lang="ja-JP" altLang="en-US" sz="2800" dirty="0"/>
              <a:t>目的</a:t>
            </a:r>
            <a:endParaRPr kumimoji="1" lang="ja-JP" altLang="en-US" sz="2800" dirty="0"/>
          </a:p>
        </p:txBody>
      </p:sp>
      <p:sp>
        <p:nvSpPr>
          <p:cNvPr id="15" name="テキスト ボックス 14">
            <a:extLst>
              <a:ext uri="{FF2B5EF4-FFF2-40B4-BE49-F238E27FC236}">
                <a16:creationId xmlns:a16="http://schemas.microsoft.com/office/drawing/2014/main" id="{7E63A560-4B48-C854-BB6E-495285809984}"/>
              </a:ext>
            </a:extLst>
          </p:cNvPr>
          <p:cNvSpPr txBox="1"/>
          <p:nvPr/>
        </p:nvSpPr>
        <p:spPr>
          <a:xfrm>
            <a:off x="838199" y="3650413"/>
            <a:ext cx="2245243" cy="523220"/>
          </a:xfrm>
          <a:prstGeom prst="rect">
            <a:avLst/>
          </a:prstGeom>
          <a:noFill/>
        </p:spPr>
        <p:txBody>
          <a:bodyPr wrap="square" rtlCol="0">
            <a:spAutoFit/>
          </a:bodyPr>
          <a:lstStyle/>
          <a:p>
            <a:pPr marL="457200" indent="-457200">
              <a:buFont typeface="Wingdings" panose="05000000000000000000" pitchFamily="2" charset="2"/>
              <a:buChar char="n"/>
            </a:pPr>
            <a:r>
              <a:rPr kumimoji="1" lang="ja-JP" altLang="en-US" sz="2800" dirty="0"/>
              <a:t>学習内容</a:t>
            </a:r>
          </a:p>
        </p:txBody>
      </p:sp>
      <p:sp>
        <p:nvSpPr>
          <p:cNvPr id="16" name="四角形: 角を丸くする 15">
            <a:extLst>
              <a:ext uri="{FF2B5EF4-FFF2-40B4-BE49-F238E27FC236}">
                <a16:creationId xmlns:a16="http://schemas.microsoft.com/office/drawing/2014/main" id="{25CEF361-E1F1-66A9-70EE-DDDB93B0F80E}"/>
              </a:ext>
            </a:extLst>
          </p:cNvPr>
          <p:cNvSpPr/>
          <p:nvPr/>
        </p:nvSpPr>
        <p:spPr>
          <a:xfrm>
            <a:off x="838193" y="4173633"/>
            <a:ext cx="3031339" cy="706711"/>
          </a:xfrm>
          <a:prstGeom prst="roundRect">
            <a:avLst>
              <a:gd name="adj" fmla="val 6746"/>
            </a:avLst>
          </a:prstGeom>
          <a:solidFill>
            <a:schemeClr val="accent4">
              <a:lumMod val="20000"/>
              <a:lumOff val="80000"/>
            </a:schemeClr>
          </a:solid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 REST API</a:t>
            </a:r>
            <a:endParaRPr kumimoji="1" lang="ja-JP" altLang="en-US" sz="2000" dirty="0">
              <a:solidFill>
                <a:schemeClr val="tx1"/>
              </a:solidFill>
            </a:endParaRPr>
          </a:p>
        </p:txBody>
      </p:sp>
      <p:sp>
        <p:nvSpPr>
          <p:cNvPr id="17" name="四角形: 角を丸くする 16">
            <a:extLst>
              <a:ext uri="{FF2B5EF4-FFF2-40B4-BE49-F238E27FC236}">
                <a16:creationId xmlns:a16="http://schemas.microsoft.com/office/drawing/2014/main" id="{0B8354C6-3529-BD99-EF1E-3BF759E002B6}"/>
              </a:ext>
            </a:extLst>
          </p:cNvPr>
          <p:cNvSpPr/>
          <p:nvPr/>
        </p:nvSpPr>
        <p:spPr>
          <a:xfrm>
            <a:off x="4580325" y="4173633"/>
            <a:ext cx="3031339" cy="706711"/>
          </a:xfrm>
          <a:prstGeom prst="roundRect">
            <a:avLst>
              <a:gd name="adj" fmla="val 6746"/>
            </a:avLst>
          </a:prstGeom>
          <a:solidFill>
            <a:schemeClr val="accent4">
              <a:lumMod val="20000"/>
              <a:lumOff val="80000"/>
            </a:schemeClr>
          </a:solid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rPr>
              <a:t>ドメイン駆動設計</a:t>
            </a:r>
            <a:endParaRPr lang="en-US" altLang="ja-JP" sz="2000" dirty="0">
              <a:solidFill>
                <a:schemeClr val="tx1"/>
              </a:solidFill>
            </a:endParaRPr>
          </a:p>
        </p:txBody>
      </p:sp>
      <p:sp>
        <p:nvSpPr>
          <p:cNvPr id="18" name="四角形: 角を丸くする 17">
            <a:extLst>
              <a:ext uri="{FF2B5EF4-FFF2-40B4-BE49-F238E27FC236}">
                <a16:creationId xmlns:a16="http://schemas.microsoft.com/office/drawing/2014/main" id="{EE53960B-C306-A8D5-8A12-2E9CA286D192}"/>
              </a:ext>
            </a:extLst>
          </p:cNvPr>
          <p:cNvSpPr/>
          <p:nvPr/>
        </p:nvSpPr>
        <p:spPr>
          <a:xfrm>
            <a:off x="8322457" y="4173633"/>
            <a:ext cx="3031339" cy="706711"/>
          </a:xfrm>
          <a:prstGeom prst="roundRect">
            <a:avLst>
              <a:gd name="adj" fmla="val 6746"/>
            </a:avLst>
          </a:prstGeom>
          <a:solidFill>
            <a:schemeClr val="accent4">
              <a:lumMod val="20000"/>
              <a:lumOff val="80000"/>
            </a:schemeClr>
          </a:solid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Azure</a:t>
            </a:r>
            <a:r>
              <a:rPr lang="ja-JP" altLang="en-US" sz="2000" dirty="0">
                <a:solidFill>
                  <a:schemeClr val="tx1"/>
                </a:solidFill>
              </a:rPr>
              <a:t>で</a:t>
            </a:r>
            <a:r>
              <a:rPr lang="en-US" altLang="ja-JP" sz="2000" dirty="0">
                <a:solidFill>
                  <a:schemeClr val="tx1"/>
                </a:solidFill>
              </a:rPr>
              <a:t>VM, DB</a:t>
            </a:r>
            <a:r>
              <a:rPr lang="ja-JP" altLang="en-US" sz="2000" dirty="0">
                <a:solidFill>
                  <a:schemeClr val="tx1"/>
                </a:solidFill>
              </a:rPr>
              <a:t>の構築</a:t>
            </a:r>
            <a:endParaRPr kumimoji="1" lang="ja-JP" altLang="en-US" sz="2000" dirty="0">
              <a:solidFill>
                <a:schemeClr val="tx1"/>
              </a:solidFill>
            </a:endParaRPr>
          </a:p>
        </p:txBody>
      </p:sp>
      <p:sp>
        <p:nvSpPr>
          <p:cNvPr id="19" name="四角形: 角を丸くする 18">
            <a:extLst>
              <a:ext uri="{FF2B5EF4-FFF2-40B4-BE49-F238E27FC236}">
                <a16:creationId xmlns:a16="http://schemas.microsoft.com/office/drawing/2014/main" id="{B3058476-850B-2566-1AA5-32360467CC99}"/>
              </a:ext>
            </a:extLst>
          </p:cNvPr>
          <p:cNvSpPr/>
          <p:nvPr/>
        </p:nvSpPr>
        <p:spPr>
          <a:xfrm>
            <a:off x="838195" y="5048509"/>
            <a:ext cx="3031339" cy="706711"/>
          </a:xfrm>
          <a:prstGeom prst="roundRect">
            <a:avLst>
              <a:gd name="adj" fmla="val 6746"/>
            </a:avLst>
          </a:prstGeom>
          <a:solidFill>
            <a:schemeClr val="accent4">
              <a:lumMod val="20000"/>
              <a:lumOff val="80000"/>
            </a:schemeClr>
          </a:solid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GitHub</a:t>
            </a:r>
            <a:r>
              <a:rPr lang="ja-JP" altLang="en-US" sz="2000" dirty="0">
                <a:solidFill>
                  <a:schemeClr val="tx1"/>
                </a:solidFill>
              </a:rPr>
              <a:t> </a:t>
            </a:r>
            <a:r>
              <a:rPr lang="en-US" altLang="ja-JP" sz="2000" dirty="0">
                <a:solidFill>
                  <a:schemeClr val="tx1"/>
                </a:solidFill>
              </a:rPr>
              <a:t>Actions</a:t>
            </a:r>
            <a:r>
              <a:rPr lang="ja-JP" altLang="en-US" sz="2000" dirty="0">
                <a:solidFill>
                  <a:schemeClr val="tx1"/>
                </a:solidFill>
              </a:rPr>
              <a:t> </a:t>
            </a:r>
            <a:r>
              <a:rPr lang="en-US" altLang="ja-JP" sz="2000" dirty="0">
                <a:solidFill>
                  <a:schemeClr val="tx1"/>
                </a:solidFill>
              </a:rPr>
              <a:t>&amp;</a:t>
            </a:r>
            <a:r>
              <a:rPr lang="ja-JP" altLang="en-US" sz="2000" dirty="0">
                <a:solidFill>
                  <a:schemeClr val="tx1"/>
                </a:solidFill>
              </a:rPr>
              <a:t> </a:t>
            </a:r>
            <a:r>
              <a:rPr lang="en-US" altLang="ja-JP" sz="2000" dirty="0">
                <a:solidFill>
                  <a:schemeClr val="tx1"/>
                </a:solidFill>
              </a:rPr>
              <a:t>Issues</a:t>
            </a:r>
            <a:endParaRPr kumimoji="1" lang="ja-JP" altLang="en-US" sz="2000" dirty="0">
              <a:solidFill>
                <a:schemeClr val="tx1"/>
              </a:solidFill>
            </a:endParaRPr>
          </a:p>
        </p:txBody>
      </p:sp>
      <p:sp>
        <p:nvSpPr>
          <p:cNvPr id="20" name="四角形: 角を丸くする 19">
            <a:extLst>
              <a:ext uri="{FF2B5EF4-FFF2-40B4-BE49-F238E27FC236}">
                <a16:creationId xmlns:a16="http://schemas.microsoft.com/office/drawing/2014/main" id="{564CDD03-9AB8-C7B0-D646-A2B1158D1520}"/>
              </a:ext>
            </a:extLst>
          </p:cNvPr>
          <p:cNvSpPr/>
          <p:nvPr/>
        </p:nvSpPr>
        <p:spPr>
          <a:xfrm>
            <a:off x="4580326" y="5048509"/>
            <a:ext cx="3031339" cy="706711"/>
          </a:xfrm>
          <a:prstGeom prst="roundRect">
            <a:avLst>
              <a:gd name="adj" fmla="val 6746"/>
            </a:avLst>
          </a:prstGeom>
          <a:solidFill>
            <a:schemeClr val="accent4">
              <a:lumMod val="20000"/>
              <a:lumOff val="80000"/>
            </a:schemeClr>
          </a:solid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TypeScript</a:t>
            </a:r>
            <a:endParaRPr kumimoji="1" lang="ja-JP" altLang="en-US" sz="2000" dirty="0">
              <a:solidFill>
                <a:schemeClr val="tx1"/>
              </a:solidFill>
            </a:endParaRPr>
          </a:p>
        </p:txBody>
      </p:sp>
      <p:sp>
        <p:nvSpPr>
          <p:cNvPr id="21" name="四角形: 角を丸くする 20">
            <a:extLst>
              <a:ext uri="{FF2B5EF4-FFF2-40B4-BE49-F238E27FC236}">
                <a16:creationId xmlns:a16="http://schemas.microsoft.com/office/drawing/2014/main" id="{49B892F7-825B-7DF0-BD32-863E002357BB}"/>
              </a:ext>
            </a:extLst>
          </p:cNvPr>
          <p:cNvSpPr/>
          <p:nvPr/>
        </p:nvSpPr>
        <p:spPr>
          <a:xfrm>
            <a:off x="8322457" y="5048509"/>
            <a:ext cx="3031339" cy="706711"/>
          </a:xfrm>
          <a:prstGeom prst="roundRect">
            <a:avLst>
              <a:gd name="adj" fmla="val 6746"/>
            </a:avLst>
          </a:prstGeom>
          <a:solidFill>
            <a:schemeClr val="accent4">
              <a:lumMod val="20000"/>
              <a:lumOff val="80000"/>
            </a:schemeClr>
          </a:solid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React</a:t>
            </a:r>
            <a:endParaRPr kumimoji="1" lang="ja-JP" altLang="en-US" sz="2000" dirty="0">
              <a:solidFill>
                <a:schemeClr val="tx1"/>
              </a:solidFill>
            </a:endParaRPr>
          </a:p>
        </p:txBody>
      </p:sp>
    </p:spTree>
    <p:extLst>
      <p:ext uri="{BB962C8B-B14F-4D97-AF65-F5344CB8AC3E}">
        <p14:creationId xmlns:p14="http://schemas.microsoft.com/office/powerpoint/2010/main" val="1854031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0BE89B-38D8-A6D7-F094-6EF21878D7B0}"/>
              </a:ext>
            </a:extLst>
          </p:cNvPr>
          <p:cNvSpPr>
            <a:spLocks noGrp="1"/>
          </p:cNvSpPr>
          <p:nvPr>
            <p:ph type="title"/>
          </p:nvPr>
        </p:nvSpPr>
        <p:spPr/>
        <p:txBody>
          <a:bodyPr/>
          <a:lstStyle/>
          <a:p>
            <a:r>
              <a:rPr lang="ja-JP" altLang="en-US" dirty="0"/>
              <a:t>開発演習の成果</a:t>
            </a:r>
            <a:endParaRPr kumimoji="1" lang="ja-JP" altLang="en-US" dirty="0"/>
          </a:p>
        </p:txBody>
      </p:sp>
      <p:sp>
        <p:nvSpPr>
          <p:cNvPr id="3" name="コンテンツ プレースホルダー 2">
            <a:extLst>
              <a:ext uri="{FF2B5EF4-FFF2-40B4-BE49-F238E27FC236}">
                <a16:creationId xmlns:a16="http://schemas.microsoft.com/office/drawing/2014/main" id="{3D3A8454-772E-E2C4-0704-93FACA67B734}"/>
              </a:ext>
            </a:extLst>
          </p:cNvPr>
          <p:cNvSpPr>
            <a:spLocks noGrp="1"/>
          </p:cNvSpPr>
          <p:nvPr>
            <p:ph idx="1"/>
          </p:nvPr>
        </p:nvSpPr>
        <p:spPr/>
        <p:txBody>
          <a:bodyPr/>
          <a:lstStyle/>
          <a:p>
            <a:pPr>
              <a:lnSpc>
                <a:spcPct val="100000"/>
              </a:lnSpc>
              <a:buFont typeface="Wingdings" panose="05000000000000000000" pitchFamily="2" charset="2"/>
              <a:buChar char="n"/>
            </a:pPr>
            <a:r>
              <a:rPr lang="ja-JP" altLang="en-US" dirty="0"/>
              <a:t>アプリケーション概要</a:t>
            </a:r>
            <a:endParaRPr lang="en-US" altLang="ja-JP" dirty="0"/>
          </a:p>
          <a:p>
            <a:pPr lvl="1">
              <a:lnSpc>
                <a:spcPct val="100000"/>
              </a:lnSpc>
            </a:pPr>
            <a:r>
              <a:rPr lang="en-US" altLang="ja-JP" dirty="0"/>
              <a:t>API</a:t>
            </a:r>
            <a:r>
              <a:rPr lang="ja-JP" altLang="en-US" dirty="0"/>
              <a:t>型アプリケーション</a:t>
            </a:r>
            <a:endParaRPr lang="en-US" altLang="ja-JP" dirty="0"/>
          </a:p>
          <a:p>
            <a:pPr lvl="1">
              <a:lnSpc>
                <a:spcPct val="100000"/>
              </a:lnSpc>
            </a:pPr>
            <a:r>
              <a:rPr lang="ja-JP" altLang="en-US" dirty="0"/>
              <a:t>図書管理機能（登録・検索・変更・削除）</a:t>
            </a:r>
            <a:endParaRPr lang="en-US" altLang="ja-JP" dirty="0"/>
          </a:p>
          <a:p>
            <a:pPr lvl="1">
              <a:lnSpc>
                <a:spcPct val="100000"/>
              </a:lnSpc>
            </a:pPr>
            <a:r>
              <a:rPr lang="ja-JP" altLang="en-US" dirty="0"/>
              <a:t>ユーザ登録・ログイン機能を備え、認証済ユーザが利用可能</a:t>
            </a:r>
            <a:endParaRPr lang="en-US" altLang="ja-JP" dirty="0"/>
          </a:p>
          <a:p>
            <a:pPr>
              <a:lnSpc>
                <a:spcPct val="100000"/>
              </a:lnSpc>
              <a:buFont typeface="Wingdings" panose="05000000000000000000" pitchFamily="2" charset="2"/>
              <a:buChar char="n"/>
            </a:pPr>
            <a:endParaRPr lang="en-US" altLang="ja-JP" sz="2400" dirty="0"/>
          </a:p>
        </p:txBody>
      </p:sp>
      <p:sp>
        <p:nvSpPr>
          <p:cNvPr id="4" name="スライド番号プレースホルダー 3">
            <a:extLst>
              <a:ext uri="{FF2B5EF4-FFF2-40B4-BE49-F238E27FC236}">
                <a16:creationId xmlns:a16="http://schemas.microsoft.com/office/drawing/2014/main" id="{86F37285-5150-0883-17FA-3B37061D85B1}"/>
              </a:ext>
            </a:extLst>
          </p:cNvPr>
          <p:cNvSpPr>
            <a:spLocks noGrp="1"/>
          </p:cNvSpPr>
          <p:nvPr>
            <p:ph type="sldNum" sz="quarter" idx="12"/>
          </p:nvPr>
        </p:nvSpPr>
        <p:spPr/>
        <p:txBody>
          <a:bodyPr/>
          <a:lstStyle/>
          <a:p>
            <a:fld id="{00D2F285-7DC3-4F9C-8E53-6893EECBFE42}" type="slidenum">
              <a:rPr kumimoji="1" lang="ja-JP" altLang="en-US" smtClean="0"/>
              <a:t>3</a:t>
            </a:fld>
            <a:endParaRPr kumimoji="1" lang="ja-JP" altLang="en-US"/>
          </a:p>
        </p:txBody>
      </p:sp>
    </p:spTree>
    <p:extLst>
      <p:ext uri="{BB962C8B-B14F-4D97-AF65-F5344CB8AC3E}">
        <p14:creationId xmlns:p14="http://schemas.microsoft.com/office/powerpoint/2010/main" val="227403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二等辺三角形 27">
            <a:extLst>
              <a:ext uri="{FF2B5EF4-FFF2-40B4-BE49-F238E27FC236}">
                <a16:creationId xmlns:a16="http://schemas.microsoft.com/office/drawing/2014/main" id="{C4163B7D-B612-C255-96C9-03AB4C16F737}"/>
              </a:ext>
            </a:extLst>
          </p:cNvPr>
          <p:cNvSpPr/>
          <p:nvPr/>
        </p:nvSpPr>
        <p:spPr>
          <a:xfrm rot="14135497">
            <a:off x="8972075" y="5543171"/>
            <a:ext cx="516270" cy="605542"/>
          </a:xfrm>
          <a:prstGeom prst="triangl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四角形: 角を丸くする 26">
            <a:extLst>
              <a:ext uri="{FF2B5EF4-FFF2-40B4-BE49-F238E27FC236}">
                <a16:creationId xmlns:a16="http://schemas.microsoft.com/office/drawing/2014/main" id="{CB23E4AD-716B-1D21-FFB4-D9F2C7BEC6E3}"/>
              </a:ext>
            </a:extLst>
          </p:cNvPr>
          <p:cNvSpPr/>
          <p:nvPr/>
        </p:nvSpPr>
        <p:spPr>
          <a:xfrm>
            <a:off x="9217529" y="5299667"/>
            <a:ext cx="1858335" cy="1045320"/>
          </a:xfrm>
          <a:prstGeom prst="roundRect">
            <a:avLst>
              <a:gd name="adj" fmla="val 6746"/>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タイトル 1">
            <a:extLst>
              <a:ext uri="{FF2B5EF4-FFF2-40B4-BE49-F238E27FC236}">
                <a16:creationId xmlns:a16="http://schemas.microsoft.com/office/drawing/2014/main" id="{D2B47E34-F0E0-2E1A-E065-C5BBA5EEDF54}"/>
              </a:ext>
            </a:extLst>
          </p:cNvPr>
          <p:cNvSpPr>
            <a:spLocks noGrp="1"/>
          </p:cNvSpPr>
          <p:nvPr>
            <p:ph type="title"/>
          </p:nvPr>
        </p:nvSpPr>
        <p:spPr/>
        <p:txBody>
          <a:bodyPr/>
          <a:lstStyle/>
          <a:p>
            <a:r>
              <a:rPr lang="ja-JP" altLang="en-US" dirty="0"/>
              <a:t>印象に残った学び①</a:t>
            </a:r>
            <a:endParaRPr kumimoji="1" lang="ja-JP" altLang="en-US" dirty="0"/>
          </a:p>
        </p:txBody>
      </p:sp>
      <p:sp>
        <p:nvSpPr>
          <p:cNvPr id="4" name="スライド番号プレースホルダー 3">
            <a:extLst>
              <a:ext uri="{FF2B5EF4-FFF2-40B4-BE49-F238E27FC236}">
                <a16:creationId xmlns:a16="http://schemas.microsoft.com/office/drawing/2014/main" id="{5C3A6A21-AB5B-9B07-40EB-D6DBFF19FEB3}"/>
              </a:ext>
            </a:extLst>
          </p:cNvPr>
          <p:cNvSpPr>
            <a:spLocks noGrp="1"/>
          </p:cNvSpPr>
          <p:nvPr>
            <p:ph type="sldNum" sz="quarter" idx="12"/>
          </p:nvPr>
        </p:nvSpPr>
        <p:spPr/>
        <p:txBody>
          <a:bodyPr/>
          <a:lstStyle/>
          <a:p>
            <a:fld id="{00D2F285-7DC3-4F9C-8E53-6893EECBFE42}" type="slidenum">
              <a:rPr kumimoji="1" lang="ja-JP" altLang="en-US" smtClean="0"/>
              <a:t>4</a:t>
            </a:fld>
            <a:endParaRPr kumimoji="1" lang="ja-JP" altLang="en-US"/>
          </a:p>
        </p:txBody>
      </p:sp>
      <p:sp>
        <p:nvSpPr>
          <p:cNvPr id="5" name="テキスト ボックス 4">
            <a:extLst>
              <a:ext uri="{FF2B5EF4-FFF2-40B4-BE49-F238E27FC236}">
                <a16:creationId xmlns:a16="http://schemas.microsoft.com/office/drawing/2014/main" id="{B177516D-5EFE-ABB3-6691-540D8EFE2473}"/>
              </a:ext>
            </a:extLst>
          </p:cNvPr>
          <p:cNvSpPr txBox="1"/>
          <p:nvPr/>
        </p:nvSpPr>
        <p:spPr>
          <a:xfrm>
            <a:off x="781491" y="1193082"/>
            <a:ext cx="4644523" cy="523220"/>
          </a:xfrm>
          <a:prstGeom prst="rect">
            <a:avLst/>
          </a:prstGeom>
          <a:noFill/>
        </p:spPr>
        <p:txBody>
          <a:bodyPr wrap="square" rtlCol="0">
            <a:spAutoFit/>
          </a:bodyPr>
          <a:lstStyle/>
          <a:p>
            <a:pPr marL="342900" indent="-342900">
              <a:buFont typeface="Wingdings" panose="05000000000000000000" pitchFamily="2" charset="2"/>
              <a:buChar char="n"/>
            </a:pPr>
            <a:r>
              <a:rPr lang="ja-JP" altLang="en-US" sz="2800" dirty="0"/>
              <a:t>ドメイン駆動設計の役割</a:t>
            </a:r>
            <a:endParaRPr kumimoji="1" lang="en-US" altLang="ja-JP" sz="2800" dirty="0"/>
          </a:p>
        </p:txBody>
      </p:sp>
      <p:sp>
        <p:nvSpPr>
          <p:cNvPr id="6" name="四角形: 角を丸くする 5">
            <a:extLst>
              <a:ext uri="{FF2B5EF4-FFF2-40B4-BE49-F238E27FC236}">
                <a16:creationId xmlns:a16="http://schemas.microsoft.com/office/drawing/2014/main" id="{E9976947-1885-C51E-0617-081B81A4C64E}"/>
              </a:ext>
            </a:extLst>
          </p:cNvPr>
          <p:cNvSpPr/>
          <p:nvPr/>
        </p:nvSpPr>
        <p:spPr>
          <a:xfrm>
            <a:off x="838200" y="1716302"/>
            <a:ext cx="10515600" cy="1413587"/>
          </a:xfrm>
          <a:prstGeom prst="roundRect">
            <a:avLst>
              <a:gd name="adj" fmla="val 6746"/>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CB1A3135-0BB3-A51E-9BC6-912622033543}"/>
              </a:ext>
            </a:extLst>
          </p:cNvPr>
          <p:cNvSpPr txBox="1"/>
          <p:nvPr/>
        </p:nvSpPr>
        <p:spPr>
          <a:xfrm>
            <a:off x="1010093" y="2007597"/>
            <a:ext cx="9803219" cy="830997"/>
          </a:xfrm>
          <a:prstGeom prst="rect">
            <a:avLst/>
          </a:prstGeom>
          <a:noFill/>
        </p:spPr>
        <p:txBody>
          <a:bodyPr wrap="square" rtlCol="0">
            <a:spAutoFit/>
          </a:bodyPr>
          <a:lstStyle/>
          <a:p>
            <a:r>
              <a:rPr kumimoji="1" lang="ja-JP" altLang="en-US" sz="2400" dirty="0">
                <a:solidFill>
                  <a:schemeClr val="bg1"/>
                </a:solidFill>
              </a:rPr>
              <a:t>保守性と拡張性を高めるためにクラスの責務を適切に集約または分散させること</a:t>
            </a:r>
          </a:p>
        </p:txBody>
      </p:sp>
      <p:sp>
        <p:nvSpPr>
          <p:cNvPr id="9" name="テキスト ボックス 8">
            <a:extLst>
              <a:ext uri="{FF2B5EF4-FFF2-40B4-BE49-F238E27FC236}">
                <a16:creationId xmlns:a16="http://schemas.microsoft.com/office/drawing/2014/main" id="{5D59A58A-292D-48D8-6779-C3C54003B0E7}"/>
              </a:ext>
            </a:extLst>
          </p:cNvPr>
          <p:cNvSpPr txBox="1"/>
          <p:nvPr/>
        </p:nvSpPr>
        <p:spPr>
          <a:xfrm>
            <a:off x="602921" y="3313893"/>
            <a:ext cx="9882965" cy="461665"/>
          </a:xfrm>
          <a:prstGeom prst="rect">
            <a:avLst/>
          </a:prstGeom>
          <a:noFill/>
        </p:spPr>
        <p:txBody>
          <a:bodyPr wrap="square" rtlCol="0">
            <a:spAutoFit/>
          </a:bodyPr>
          <a:lstStyle/>
          <a:p>
            <a:r>
              <a:rPr lang="ja-JP" altLang="en-US" sz="2400" dirty="0"/>
              <a:t>（例）</a:t>
            </a:r>
            <a:r>
              <a:rPr lang="en-US" altLang="ja-JP" sz="2400" dirty="0"/>
              <a:t>User</a:t>
            </a:r>
            <a:r>
              <a:rPr lang="ja-JP" altLang="en-US" sz="2400" dirty="0"/>
              <a:t>登録および更新における</a:t>
            </a:r>
            <a:r>
              <a:rPr lang="en-US" altLang="ja-JP" sz="2400" dirty="0"/>
              <a:t>Name</a:t>
            </a:r>
            <a:r>
              <a:rPr lang="ja-JP" altLang="en-US" sz="2400" dirty="0"/>
              <a:t>のルールを変更する場合</a:t>
            </a:r>
            <a:endParaRPr kumimoji="1" lang="ja-JP" altLang="en-US" sz="2400" dirty="0"/>
          </a:p>
        </p:txBody>
      </p:sp>
      <p:graphicFrame>
        <p:nvGraphicFramePr>
          <p:cNvPr id="10" name="表 9">
            <a:extLst>
              <a:ext uri="{FF2B5EF4-FFF2-40B4-BE49-F238E27FC236}">
                <a16:creationId xmlns:a16="http://schemas.microsoft.com/office/drawing/2014/main" id="{13C5E172-CA1D-EBAE-DE9C-DB4604326479}"/>
              </a:ext>
            </a:extLst>
          </p:cNvPr>
          <p:cNvGraphicFramePr>
            <a:graphicFrameLocks noGrp="1"/>
          </p:cNvGraphicFramePr>
          <p:nvPr>
            <p:extLst>
              <p:ext uri="{D42A27DB-BD31-4B8C-83A1-F6EECF244321}">
                <p14:modId xmlns:p14="http://schemas.microsoft.com/office/powerpoint/2010/main" val="3257597089"/>
              </p:ext>
            </p:extLst>
          </p:nvPr>
        </p:nvGraphicFramePr>
        <p:xfrm>
          <a:off x="1598248" y="5859164"/>
          <a:ext cx="1806354" cy="741680"/>
        </p:xfrm>
        <a:graphic>
          <a:graphicData uri="http://schemas.openxmlformats.org/drawingml/2006/table">
            <a:tbl>
              <a:tblPr firstRow="1" bandRow="1">
                <a:tableStyleId>{073A0DAA-6AF3-43AB-8588-CEC1D06C72B9}</a:tableStyleId>
              </a:tblPr>
              <a:tblGrid>
                <a:gridCol w="1806354">
                  <a:extLst>
                    <a:ext uri="{9D8B030D-6E8A-4147-A177-3AD203B41FA5}">
                      <a16:colId xmlns:a16="http://schemas.microsoft.com/office/drawing/2014/main" val="934171489"/>
                    </a:ext>
                  </a:extLst>
                </a:gridCol>
              </a:tblGrid>
              <a:tr h="370840">
                <a:tc>
                  <a:txBody>
                    <a:bodyPr/>
                    <a:lstStyle/>
                    <a:p>
                      <a:pPr algn="ctr"/>
                      <a:r>
                        <a:rPr kumimoji="1" lang="en-US" altLang="ja-JP" dirty="0"/>
                        <a:t>User</a:t>
                      </a:r>
                      <a:endParaRPr kumimoji="1" lang="ja-JP" altLang="en-US" dirty="0"/>
                    </a:p>
                  </a:txBody>
                  <a:tcPr/>
                </a:tc>
                <a:extLst>
                  <a:ext uri="{0D108BD9-81ED-4DB2-BD59-A6C34878D82A}">
                    <a16:rowId xmlns:a16="http://schemas.microsoft.com/office/drawing/2014/main" val="3351575841"/>
                  </a:ext>
                </a:extLst>
              </a:tr>
              <a:tr h="370840">
                <a:tc>
                  <a:txBody>
                    <a:bodyPr/>
                    <a:lstStyle/>
                    <a:p>
                      <a:pPr algn="ctr"/>
                      <a:r>
                        <a:rPr kumimoji="1" lang="en-US" altLang="ja-JP" dirty="0"/>
                        <a:t>+Name</a:t>
                      </a:r>
                      <a:endParaRPr kumimoji="1" lang="ja-JP" altLang="en-US" dirty="0"/>
                    </a:p>
                  </a:txBody>
                  <a:tcPr/>
                </a:tc>
                <a:extLst>
                  <a:ext uri="{0D108BD9-81ED-4DB2-BD59-A6C34878D82A}">
                    <a16:rowId xmlns:a16="http://schemas.microsoft.com/office/drawing/2014/main" val="3828683086"/>
                  </a:ext>
                </a:extLst>
              </a:tr>
            </a:tbl>
          </a:graphicData>
        </a:graphic>
      </p:graphicFrame>
      <p:graphicFrame>
        <p:nvGraphicFramePr>
          <p:cNvPr id="11" name="表 10">
            <a:extLst>
              <a:ext uri="{FF2B5EF4-FFF2-40B4-BE49-F238E27FC236}">
                <a16:creationId xmlns:a16="http://schemas.microsoft.com/office/drawing/2014/main" id="{4B2406BD-18DD-B706-080C-2F434CFFC4E0}"/>
              </a:ext>
            </a:extLst>
          </p:cNvPr>
          <p:cNvGraphicFramePr>
            <a:graphicFrameLocks noGrp="1"/>
          </p:cNvGraphicFramePr>
          <p:nvPr>
            <p:extLst>
              <p:ext uri="{D42A27DB-BD31-4B8C-83A1-F6EECF244321}">
                <p14:modId xmlns:p14="http://schemas.microsoft.com/office/powerpoint/2010/main" val="3595543260"/>
              </p:ext>
            </p:extLst>
          </p:nvPr>
        </p:nvGraphicFramePr>
        <p:xfrm>
          <a:off x="1598248" y="3932257"/>
          <a:ext cx="1806354" cy="1381760"/>
        </p:xfrm>
        <a:graphic>
          <a:graphicData uri="http://schemas.openxmlformats.org/drawingml/2006/table">
            <a:tbl>
              <a:tblPr firstRow="1" bandRow="1">
                <a:tableStyleId>{073A0DAA-6AF3-43AB-8588-CEC1D06C72B9}</a:tableStyleId>
              </a:tblPr>
              <a:tblGrid>
                <a:gridCol w="1806354">
                  <a:extLst>
                    <a:ext uri="{9D8B030D-6E8A-4147-A177-3AD203B41FA5}">
                      <a16:colId xmlns:a16="http://schemas.microsoft.com/office/drawing/2014/main" val="934171489"/>
                    </a:ext>
                  </a:extLst>
                </a:gridCol>
              </a:tblGrid>
              <a:tr h="0">
                <a:tc>
                  <a:txBody>
                    <a:bodyPr/>
                    <a:lstStyle/>
                    <a:p>
                      <a:pPr algn="ctr"/>
                      <a:r>
                        <a:rPr kumimoji="1" lang="en-US" altLang="ja-JP" dirty="0" err="1"/>
                        <a:t>UserRegister</a:t>
                      </a:r>
                      <a:endParaRPr kumimoji="1" lang="en-US" altLang="ja-JP" dirty="0"/>
                    </a:p>
                    <a:p>
                      <a:pPr algn="ctr"/>
                      <a:r>
                        <a:rPr kumimoji="1" lang="en-US" altLang="ja-JP" dirty="0" err="1"/>
                        <a:t>Usercase</a:t>
                      </a:r>
                      <a:endParaRPr kumimoji="1" lang="ja-JP" altLang="en-US" dirty="0"/>
                    </a:p>
                  </a:txBody>
                  <a:tcPr/>
                </a:tc>
                <a:extLst>
                  <a:ext uri="{0D108BD9-81ED-4DB2-BD59-A6C34878D82A}">
                    <a16:rowId xmlns:a16="http://schemas.microsoft.com/office/drawing/2014/main" val="3351575841"/>
                  </a:ext>
                </a:extLst>
              </a:tr>
              <a:tr h="370840">
                <a:tc>
                  <a:txBody>
                    <a:bodyPr/>
                    <a:lstStyle/>
                    <a:p>
                      <a:pPr algn="ctr"/>
                      <a:r>
                        <a:rPr kumimoji="1" lang="en-US" altLang="ja-JP" dirty="0"/>
                        <a:t>+Register(User)</a:t>
                      </a:r>
                      <a:endParaRPr kumimoji="1" lang="ja-JP" altLang="en-US" dirty="0"/>
                    </a:p>
                  </a:txBody>
                  <a:tcPr/>
                </a:tc>
                <a:extLst>
                  <a:ext uri="{0D108BD9-81ED-4DB2-BD59-A6C34878D82A}">
                    <a16:rowId xmlns:a16="http://schemas.microsoft.com/office/drawing/2014/main" val="3828683086"/>
                  </a:ext>
                </a:extLst>
              </a:tr>
              <a:tr h="370840">
                <a:tc>
                  <a:txBody>
                    <a:bodyPr/>
                    <a:lstStyle/>
                    <a:p>
                      <a:pPr algn="ctr"/>
                      <a:r>
                        <a:rPr kumimoji="1" lang="en-US" altLang="ja-JP" dirty="0"/>
                        <a:t>+Validate(User)</a:t>
                      </a:r>
                      <a:endParaRPr kumimoji="1" lang="ja-JP" altLang="en-US" dirty="0"/>
                    </a:p>
                  </a:txBody>
                  <a:tcPr/>
                </a:tc>
                <a:extLst>
                  <a:ext uri="{0D108BD9-81ED-4DB2-BD59-A6C34878D82A}">
                    <a16:rowId xmlns:a16="http://schemas.microsoft.com/office/drawing/2014/main" val="1775649266"/>
                  </a:ext>
                </a:extLst>
              </a:tr>
            </a:tbl>
          </a:graphicData>
        </a:graphic>
      </p:graphicFrame>
      <p:graphicFrame>
        <p:nvGraphicFramePr>
          <p:cNvPr id="13" name="表 12">
            <a:extLst>
              <a:ext uri="{FF2B5EF4-FFF2-40B4-BE49-F238E27FC236}">
                <a16:creationId xmlns:a16="http://schemas.microsoft.com/office/drawing/2014/main" id="{790FFE07-5ADA-A128-9BCD-215FE99C7DFA}"/>
              </a:ext>
            </a:extLst>
          </p:cNvPr>
          <p:cNvGraphicFramePr>
            <a:graphicFrameLocks noGrp="1"/>
          </p:cNvGraphicFramePr>
          <p:nvPr>
            <p:extLst>
              <p:ext uri="{D42A27DB-BD31-4B8C-83A1-F6EECF244321}">
                <p14:modId xmlns:p14="http://schemas.microsoft.com/office/powerpoint/2010/main" val="1031102305"/>
              </p:ext>
            </p:extLst>
          </p:nvPr>
        </p:nvGraphicFramePr>
        <p:xfrm>
          <a:off x="3692862" y="3932257"/>
          <a:ext cx="1806354" cy="1381760"/>
        </p:xfrm>
        <a:graphic>
          <a:graphicData uri="http://schemas.openxmlformats.org/drawingml/2006/table">
            <a:tbl>
              <a:tblPr firstRow="1" bandRow="1">
                <a:tableStyleId>{073A0DAA-6AF3-43AB-8588-CEC1D06C72B9}</a:tableStyleId>
              </a:tblPr>
              <a:tblGrid>
                <a:gridCol w="1806354">
                  <a:extLst>
                    <a:ext uri="{9D8B030D-6E8A-4147-A177-3AD203B41FA5}">
                      <a16:colId xmlns:a16="http://schemas.microsoft.com/office/drawing/2014/main" val="934171489"/>
                    </a:ext>
                  </a:extLst>
                </a:gridCol>
              </a:tblGrid>
              <a:tr h="0">
                <a:tc>
                  <a:txBody>
                    <a:bodyPr/>
                    <a:lstStyle/>
                    <a:p>
                      <a:pPr algn="ctr"/>
                      <a:r>
                        <a:rPr kumimoji="1" lang="en-US" altLang="ja-JP" dirty="0" err="1"/>
                        <a:t>UserUpdate</a:t>
                      </a:r>
                      <a:endParaRPr kumimoji="1" lang="en-US" altLang="ja-JP" dirty="0"/>
                    </a:p>
                    <a:p>
                      <a:pPr algn="ctr"/>
                      <a:r>
                        <a:rPr kumimoji="1" lang="en-US" altLang="ja-JP" dirty="0" err="1"/>
                        <a:t>Usercase</a:t>
                      </a:r>
                      <a:endParaRPr kumimoji="1" lang="ja-JP" altLang="en-US" dirty="0"/>
                    </a:p>
                  </a:txBody>
                  <a:tcPr/>
                </a:tc>
                <a:extLst>
                  <a:ext uri="{0D108BD9-81ED-4DB2-BD59-A6C34878D82A}">
                    <a16:rowId xmlns:a16="http://schemas.microsoft.com/office/drawing/2014/main" val="3351575841"/>
                  </a:ext>
                </a:extLst>
              </a:tr>
              <a:tr h="370840">
                <a:tc>
                  <a:txBody>
                    <a:bodyPr/>
                    <a:lstStyle/>
                    <a:p>
                      <a:pPr algn="ctr"/>
                      <a:r>
                        <a:rPr kumimoji="1" lang="en-US" altLang="ja-JP" dirty="0"/>
                        <a:t>+Update(User)</a:t>
                      </a:r>
                      <a:endParaRPr kumimoji="1" lang="ja-JP" altLang="en-US" dirty="0"/>
                    </a:p>
                  </a:txBody>
                  <a:tcPr/>
                </a:tc>
                <a:extLst>
                  <a:ext uri="{0D108BD9-81ED-4DB2-BD59-A6C34878D82A}">
                    <a16:rowId xmlns:a16="http://schemas.microsoft.com/office/drawing/2014/main" val="3828683086"/>
                  </a:ext>
                </a:extLst>
              </a:tr>
              <a:tr h="370840">
                <a:tc>
                  <a:txBody>
                    <a:bodyPr/>
                    <a:lstStyle/>
                    <a:p>
                      <a:pPr algn="ctr"/>
                      <a:r>
                        <a:rPr kumimoji="1" lang="en-US" altLang="ja-JP" dirty="0"/>
                        <a:t>+Validate(User)</a:t>
                      </a:r>
                      <a:endParaRPr kumimoji="1" lang="ja-JP" altLang="en-US" dirty="0"/>
                    </a:p>
                  </a:txBody>
                  <a:tcPr/>
                </a:tc>
                <a:extLst>
                  <a:ext uri="{0D108BD9-81ED-4DB2-BD59-A6C34878D82A}">
                    <a16:rowId xmlns:a16="http://schemas.microsoft.com/office/drawing/2014/main" val="1775649266"/>
                  </a:ext>
                </a:extLst>
              </a:tr>
            </a:tbl>
          </a:graphicData>
        </a:graphic>
      </p:graphicFrame>
      <p:graphicFrame>
        <p:nvGraphicFramePr>
          <p:cNvPr id="14" name="表 13">
            <a:extLst>
              <a:ext uri="{FF2B5EF4-FFF2-40B4-BE49-F238E27FC236}">
                <a16:creationId xmlns:a16="http://schemas.microsoft.com/office/drawing/2014/main" id="{FC7C35BE-7625-13B5-4261-613828F276A6}"/>
              </a:ext>
            </a:extLst>
          </p:cNvPr>
          <p:cNvGraphicFramePr>
            <a:graphicFrameLocks noGrp="1"/>
          </p:cNvGraphicFramePr>
          <p:nvPr>
            <p:extLst>
              <p:ext uri="{D42A27DB-BD31-4B8C-83A1-F6EECF244321}">
                <p14:modId xmlns:p14="http://schemas.microsoft.com/office/powerpoint/2010/main" val="588275514"/>
              </p:ext>
            </p:extLst>
          </p:nvPr>
        </p:nvGraphicFramePr>
        <p:xfrm>
          <a:off x="6818834" y="5488778"/>
          <a:ext cx="1806354" cy="1112520"/>
        </p:xfrm>
        <a:graphic>
          <a:graphicData uri="http://schemas.openxmlformats.org/drawingml/2006/table">
            <a:tbl>
              <a:tblPr firstRow="1" bandRow="1">
                <a:tableStyleId>{073A0DAA-6AF3-43AB-8588-CEC1D06C72B9}</a:tableStyleId>
              </a:tblPr>
              <a:tblGrid>
                <a:gridCol w="1806354">
                  <a:extLst>
                    <a:ext uri="{9D8B030D-6E8A-4147-A177-3AD203B41FA5}">
                      <a16:colId xmlns:a16="http://schemas.microsoft.com/office/drawing/2014/main" val="934171489"/>
                    </a:ext>
                  </a:extLst>
                </a:gridCol>
              </a:tblGrid>
              <a:tr h="370840">
                <a:tc>
                  <a:txBody>
                    <a:bodyPr/>
                    <a:lstStyle/>
                    <a:p>
                      <a:pPr algn="ctr"/>
                      <a:r>
                        <a:rPr kumimoji="1" lang="en-US" altLang="ja-JP" dirty="0"/>
                        <a:t>User</a:t>
                      </a:r>
                      <a:endParaRPr kumimoji="1" lang="ja-JP" altLang="en-US" dirty="0"/>
                    </a:p>
                  </a:txBody>
                  <a:tcPr/>
                </a:tc>
                <a:extLst>
                  <a:ext uri="{0D108BD9-81ED-4DB2-BD59-A6C34878D82A}">
                    <a16:rowId xmlns:a16="http://schemas.microsoft.com/office/drawing/2014/main" val="3351575841"/>
                  </a:ext>
                </a:extLst>
              </a:tr>
              <a:tr h="370840">
                <a:tc>
                  <a:txBody>
                    <a:bodyPr/>
                    <a:lstStyle/>
                    <a:p>
                      <a:pPr algn="ctr"/>
                      <a:r>
                        <a:rPr kumimoji="1" lang="en-US" altLang="ja-JP" dirty="0"/>
                        <a:t>+Name</a:t>
                      </a:r>
                      <a:endParaRPr kumimoji="1" lang="ja-JP" altLang="en-US" dirty="0"/>
                    </a:p>
                  </a:txBody>
                  <a:tcPr/>
                </a:tc>
                <a:extLst>
                  <a:ext uri="{0D108BD9-81ED-4DB2-BD59-A6C34878D82A}">
                    <a16:rowId xmlns:a16="http://schemas.microsoft.com/office/drawing/2014/main" val="3828683086"/>
                  </a:ext>
                </a:extLst>
              </a:tr>
              <a:tr h="370840">
                <a:tc>
                  <a:txBody>
                    <a:bodyPr/>
                    <a:lstStyle/>
                    <a:p>
                      <a:pPr algn="ctr"/>
                      <a:r>
                        <a:rPr kumimoji="1" lang="en-US" altLang="ja-JP" dirty="0"/>
                        <a:t>+Validate(Name)</a:t>
                      </a:r>
                      <a:endParaRPr kumimoji="1" lang="ja-JP" altLang="en-US" dirty="0"/>
                    </a:p>
                  </a:txBody>
                  <a:tcPr/>
                </a:tc>
                <a:extLst>
                  <a:ext uri="{0D108BD9-81ED-4DB2-BD59-A6C34878D82A}">
                    <a16:rowId xmlns:a16="http://schemas.microsoft.com/office/drawing/2014/main" val="1011014828"/>
                  </a:ext>
                </a:extLst>
              </a:tr>
            </a:tbl>
          </a:graphicData>
        </a:graphic>
      </p:graphicFrame>
      <p:graphicFrame>
        <p:nvGraphicFramePr>
          <p:cNvPr id="15" name="表 14">
            <a:extLst>
              <a:ext uri="{FF2B5EF4-FFF2-40B4-BE49-F238E27FC236}">
                <a16:creationId xmlns:a16="http://schemas.microsoft.com/office/drawing/2014/main" id="{DCCD1BA9-AF97-796D-D991-36C363A98A00}"/>
              </a:ext>
            </a:extLst>
          </p:cNvPr>
          <p:cNvGraphicFramePr>
            <a:graphicFrameLocks noGrp="1"/>
          </p:cNvGraphicFramePr>
          <p:nvPr>
            <p:extLst>
              <p:ext uri="{D42A27DB-BD31-4B8C-83A1-F6EECF244321}">
                <p14:modId xmlns:p14="http://schemas.microsoft.com/office/powerpoint/2010/main" val="1691841613"/>
              </p:ext>
            </p:extLst>
          </p:nvPr>
        </p:nvGraphicFramePr>
        <p:xfrm>
          <a:off x="6818834" y="3932257"/>
          <a:ext cx="1806354" cy="1010920"/>
        </p:xfrm>
        <a:graphic>
          <a:graphicData uri="http://schemas.openxmlformats.org/drawingml/2006/table">
            <a:tbl>
              <a:tblPr firstRow="1" bandRow="1">
                <a:tableStyleId>{073A0DAA-6AF3-43AB-8588-CEC1D06C72B9}</a:tableStyleId>
              </a:tblPr>
              <a:tblGrid>
                <a:gridCol w="1806354">
                  <a:extLst>
                    <a:ext uri="{9D8B030D-6E8A-4147-A177-3AD203B41FA5}">
                      <a16:colId xmlns:a16="http://schemas.microsoft.com/office/drawing/2014/main" val="934171489"/>
                    </a:ext>
                  </a:extLst>
                </a:gridCol>
              </a:tblGrid>
              <a:tr h="0">
                <a:tc>
                  <a:txBody>
                    <a:bodyPr/>
                    <a:lstStyle/>
                    <a:p>
                      <a:pPr algn="ctr"/>
                      <a:r>
                        <a:rPr kumimoji="1" lang="en-US" altLang="ja-JP" dirty="0" err="1"/>
                        <a:t>UserRegister</a:t>
                      </a:r>
                      <a:endParaRPr kumimoji="1" lang="en-US" altLang="ja-JP" dirty="0"/>
                    </a:p>
                    <a:p>
                      <a:pPr algn="ctr"/>
                      <a:r>
                        <a:rPr kumimoji="1" lang="en-US" altLang="ja-JP" dirty="0" err="1"/>
                        <a:t>Usercase</a:t>
                      </a:r>
                      <a:endParaRPr kumimoji="1" lang="ja-JP" altLang="en-US" dirty="0"/>
                    </a:p>
                  </a:txBody>
                  <a:tcPr/>
                </a:tc>
                <a:extLst>
                  <a:ext uri="{0D108BD9-81ED-4DB2-BD59-A6C34878D82A}">
                    <a16:rowId xmlns:a16="http://schemas.microsoft.com/office/drawing/2014/main" val="3351575841"/>
                  </a:ext>
                </a:extLst>
              </a:tr>
              <a:tr h="370840">
                <a:tc>
                  <a:txBody>
                    <a:bodyPr/>
                    <a:lstStyle/>
                    <a:p>
                      <a:pPr algn="ctr"/>
                      <a:r>
                        <a:rPr kumimoji="1" lang="en-US" altLang="ja-JP" dirty="0"/>
                        <a:t>+Register(User)</a:t>
                      </a:r>
                      <a:endParaRPr kumimoji="1" lang="ja-JP" altLang="en-US" dirty="0"/>
                    </a:p>
                  </a:txBody>
                  <a:tcPr/>
                </a:tc>
                <a:extLst>
                  <a:ext uri="{0D108BD9-81ED-4DB2-BD59-A6C34878D82A}">
                    <a16:rowId xmlns:a16="http://schemas.microsoft.com/office/drawing/2014/main" val="3828683086"/>
                  </a:ext>
                </a:extLst>
              </a:tr>
            </a:tbl>
          </a:graphicData>
        </a:graphic>
      </p:graphicFrame>
      <p:graphicFrame>
        <p:nvGraphicFramePr>
          <p:cNvPr id="16" name="表 15">
            <a:extLst>
              <a:ext uri="{FF2B5EF4-FFF2-40B4-BE49-F238E27FC236}">
                <a16:creationId xmlns:a16="http://schemas.microsoft.com/office/drawing/2014/main" id="{0FD789D8-74E7-44E3-07F4-0BB056E3A28B}"/>
              </a:ext>
            </a:extLst>
          </p:cNvPr>
          <p:cNvGraphicFramePr>
            <a:graphicFrameLocks noGrp="1"/>
          </p:cNvGraphicFramePr>
          <p:nvPr>
            <p:extLst>
              <p:ext uri="{D42A27DB-BD31-4B8C-83A1-F6EECF244321}">
                <p14:modId xmlns:p14="http://schemas.microsoft.com/office/powerpoint/2010/main" val="426726904"/>
              </p:ext>
            </p:extLst>
          </p:nvPr>
        </p:nvGraphicFramePr>
        <p:xfrm>
          <a:off x="8913448" y="3932257"/>
          <a:ext cx="1806354" cy="1010920"/>
        </p:xfrm>
        <a:graphic>
          <a:graphicData uri="http://schemas.openxmlformats.org/drawingml/2006/table">
            <a:tbl>
              <a:tblPr firstRow="1" bandRow="1">
                <a:tableStyleId>{073A0DAA-6AF3-43AB-8588-CEC1D06C72B9}</a:tableStyleId>
              </a:tblPr>
              <a:tblGrid>
                <a:gridCol w="1806354">
                  <a:extLst>
                    <a:ext uri="{9D8B030D-6E8A-4147-A177-3AD203B41FA5}">
                      <a16:colId xmlns:a16="http://schemas.microsoft.com/office/drawing/2014/main" val="934171489"/>
                    </a:ext>
                  </a:extLst>
                </a:gridCol>
              </a:tblGrid>
              <a:tr h="0">
                <a:tc>
                  <a:txBody>
                    <a:bodyPr/>
                    <a:lstStyle/>
                    <a:p>
                      <a:pPr algn="ctr"/>
                      <a:r>
                        <a:rPr kumimoji="1" lang="en-US" altLang="ja-JP" dirty="0" err="1"/>
                        <a:t>UserUpdate</a:t>
                      </a:r>
                      <a:endParaRPr kumimoji="1" lang="en-US" altLang="ja-JP" dirty="0"/>
                    </a:p>
                    <a:p>
                      <a:pPr algn="ctr"/>
                      <a:r>
                        <a:rPr kumimoji="1" lang="en-US" altLang="ja-JP" dirty="0" err="1"/>
                        <a:t>Usercase</a:t>
                      </a:r>
                      <a:endParaRPr kumimoji="1" lang="ja-JP" altLang="en-US" dirty="0"/>
                    </a:p>
                  </a:txBody>
                  <a:tcPr/>
                </a:tc>
                <a:extLst>
                  <a:ext uri="{0D108BD9-81ED-4DB2-BD59-A6C34878D82A}">
                    <a16:rowId xmlns:a16="http://schemas.microsoft.com/office/drawing/2014/main" val="3351575841"/>
                  </a:ext>
                </a:extLst>
              </a:tr>
              <a:tr h="370840">
                <a:tc>
                  <a:txBody>
                    <a:bodyPr/>
                    <a:lstStyle/>
                    <a:p>
                      <a:pPr algn="ctr"/>
                      <a:r>
                        <a:rPr kumimoji="1" lang="en-US" altLang="ja-JP" dirty="0"/>
                        <a:t>+Update(User)</a:t>
                      </a:r>
                      <a:endParaRPr kumimoji="1" lang="ja-JP" altLang="en-US" dirty="0"/>
                    </a:p>
                  </a:txBody>
                  <a:tcPr/>
                </a:tc>
                <a:extLst>
                  <a:ext uri="{0D108BD9-81ED-4DB2-BD59-A6C34878D82A}">
                    <a16:rowId xmlns:a16="http://schemas.microsoft.com/office/drawing/2014/main" val="3828683086"/>
                  </a:ext>
                </a:extLst>
              </a:tr>
            </a:tbl>
          </a:graphicData>
        </a:graphic>
      </p:graphicFrame>
      <p:sp>
        <p:nvSpPr>
          <p:cNvPr id="18" name="四角形: 角を丸くする 17">
            <a:extLst>
              <a:ext uri="{FF2B5EF4-FFF2-40B4-BE49-F238E27FC236}">
                <a16:creationId xmlns:a16="http://schemas.microsoft.com/office/drawing/2014/main" id="{FA31088D-00B8-8754-240A-B2117E774789}"/>
              </a:ext>
            </a:extLst>
          </p:cNvPr>
          <p:cNvSpPr/>
          <p:nvPr/>
        </p:nvSpPr>
        <p:spPr>
          <a:xfrm>
            <a:off x="1533862" y="4892641"/>
            <a:ext cx="1935125" cy="461665"/>
          </a:xfrm>
          <a:prstGeom prst="roundRect">
            <a:avLst>
              <a:gd name="adj" fmla="val 6746"/>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1" name="四角形: 角を丸くする 20">
            <a:extLst>
              <a:ext uri="{FF2B5EF4-FFF2-40B4-BE49-F238E27FC236}">
                <a16:creationId xmlns:a16="http://schemas.microsoft.com/office/drawing/2014/main" id="{352F5108-C737-21D1-30B2-F0814187738E}"/>
              </a:ext>
            </a:extLst>
          </p:cNvPr>
          <p:cNvSpPr/>
          <p:nvPr/>
        </p:nvSpPr>
        <p:spPr>
          <a:xfrm>
            <a:off x="3628476" y="4892641"/>
            <a:ext cx="1935125" cy="461665"/>
          </a:xfrm>
          <a:prstGeom prst="roundRect">
            <a:avLst>
              <a:gd name="adj" fmla="val 6746"/>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テキスト ボックス 21">
            <a:extLst>
              <a:ext uri="{FF2B5EF4-FFF2-40B4-BE49-F238E27FC236}">
                <a16:creationId xmlns:a16="http://schemas.microsoft.com/office/drawing/2014/main" id="{14CC43E9-528B-4DB5-3FBC-87A865878E7A}"/>
              </a:ext>
            </a:extLst>
          </p:cNvPr>
          <p:cNvSpPr txBox="1"/>
          <p:nvPr/>
        </p:nvSpPr>
        <p:spPr>
          <a:xfrm>
            <a:off x="981559" y="4831086"/>
            <a:ext cx="914400" cy="584775"/>
          </a:xfrm>
          <a:prstGeom prst="rect">
            <a:avLst/>
          </a:prstGeom>
          <a:noFill/>
        </p:spPr>
        <p:txBody>
          <a:bodyPr wrap="square" rtlCol="0">
            <a:spAutoFit/>
          </a:bodyPr>
          <a:lstStyle/>
          <a:p>
            <a:r>
              <a:rPr lang="ja-JP" altLang="en-US" sz="3200" b="1" dirty="0">
                <a:solidFill>
                  <a:srgbClr val="C00000"/>
                </a:solidFill>
              </a:rPr>
              <a:t>①</a:t>
            </a:r>
            <a:endParaRPr kumimoji="1" lang="ja-JP" altLang="en-US" sz="3200" b="1" dirty="0">
              <a:solidFill>
                <a:srgbClr val="C00000"/>
              </a:solidFill>
            </a:endParaRPr>
          </a:p>
        </p:txBody>
      </p:sp>
      <p:sp>
        <p:nvSpPr>
          <p:cNvPr id="23" name="テキスト ボックス 22">
            <a:extLst>
              <a:ext uri="{FF2B5EF4-FFF2-40B4-BE49-F238E27FC236}">
                <a16:creationId xmlns:a16="http://schemas.microsoft.com/office/drawing/2014/main" id="{8AD07993-F96D-FFF7-D6BC-89C8866F50FC}"/>
              </a:ext>
            </a:extLst>
          </p:cNvPr>
          <p:cNvSpPr txBox="1"/>
          <p:nvPr/>
        </p:nvSpPr>
        <p:spPr>
          <a:xfrm>
            <a:off x="5499216" y="4831086"/>
            <a:ext cx="914400" cy="584775"/>
          </a:xfrm>
          <a:prstGeom prst="rect">
            <a:avLst/>
          </a:prstGeom>
          <a:noFill/>
        </p:spPr>
        <p:txBody>
          <a:bodyPr wrap="square" rtlCol="0">
            <a:spAutoFit/>
          </a:bodyPr>
          <a:lstStyle/>
          <a:p>
            <a:r>
              <a:rPr kumimoji="1" lang="ja-JP" altLang="en-US" sz="3200" b="1" dirty="0">
                <a:solidFill>
                  <a:srgbClr val="C00000"/>
                </a:solidFill>
              </a:rPr>
              <a:t>②</a:t>
            </a:r>
          </a:p>
        </p:txBody>
      </p:sp>
      <p:sp>
        <p:nvSpPr>
          <p:cNvPr id="24" name="四角形: 角を丸くする 23">
            <a:extLst>
              <a:ext uri="{FF2B5EF4-FFF2-40B4-BE49-F238E27FC236}">
                <a16:creationId xmlns:a16="http://schemas.microsoft.com/office/drawing/2014/main" id="{7F3598CB-8CEC-B9D8-715E-69DFAEE73E09}"/>
              </a:ext>
            </a:extLst>
          </p:cNvPr>
          <p:cNvSpPr/>
          <p:nvPr/>
        </p:nvSpPr>
        <p:spPr>
          <a:xfrm>
            <a:off x="6754448" y="6155875"/>
            <a:ext cx="1935125" cy="461665"/>
          </a:xfrm>
          <a:prstGeom prst="roundRect">
            <a:avLst>
              <a:gd name="adj" fmla="val 6746"/>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C7687EBE-0DE9-7092-3CA2-851F4851934A}"/>
              </a:ext>
            </a:extLst>
          </p:cNvPr>
          <p:cNvSpPr txBox="1"/>
          <p:nvPr/>
        </p:nvSpPr>
        <p:spPr>
          <a:xfrm>
            <a:off x="8625188" y="6094320"/>
            <a:ext cx="914400" cy="584775"/>
          </a:xfrm>
          <a:prstGeom prst="rect">
            <a:avLst/>
          </a:prstGeom>
          <a:noFill/>
        </p:spPr>
        <p:txBody>
          <a:bodyPr wrap="square" rtlCol="0">
            <a:spAutoFit/>
          </a:bodyPr>
          <a:lstStyle/>
          <a:p>
            <a:r>
              <a:rPr lang="ja-JP" altLang="en-US" sz="3200" b="1" dirty="0">
                <a:solidFill>
                  <a:srgbClr val="C00000"/>
                </a:solidFill>
              </a:rPr>
              <a:t>①</a:t>
            </a:r>
            <a:endParaRPr kumimoji="1" lang="ja-JP" altLang="en-US" sz="3200" b="1" dirty="0">
              <a:solidFill>
                <a:srgbClr val="C00000"/>
              </a:solidFill>
            </a:endParaRPr>
          </a:p>
        </p:txBody>
      </p:sp>
      <p:sp>
        <p:nvSpPr>
          <p:cNvPr id="26" name="テキスト ボックス 25">
            <a:extLst>
              <a:ext uri="{FF2B5EF4-FFF2-40B4-BE49-F238E27FC236}">
                <a16:creationId xmlns:a16="http://schemas.microsoft.com/office/drawing/2014/main" id="{952B84DA-D773-8928-4AC2-370DBF6CAB6B}"/>
              </a:ext>
            </a:extLst>
          </p:cNvPr>
          <p:cNvSpPr txBox="1"/>
          <p:nvPr/>
        </p:nvSpPr>
        <p:spPr>
          <a:xfrm>
            <a:off x="9155636" y="5459714"/>
            <a:ext cx="2012804" cy="707886"/>
          </a:xfrm>
          <a:prstGeom prst="rect">
            <a:avLst/>
          </a:prstGeom>
          <a:noFill/>
        </p:spPr>
        <p:txBody>
          <a:bodyPr wrap="square" rtlCol="0">
            <a:spAutoFit/>
          </a:bodyPr>
          <a:lstStyle/>
          <a:p>
            <a:pPr algn="ctr"/>
            <a:r>
              <a:rPr lang="ja-JP" altLang="en-US" sz="2000" dirty="0">
                <a:solidFill>
                  <a:schemeClr val="bg1"/>
                </a:solidFill>
              </a:rPr>
              <a:t>変更箇所が</a:t>
            </a:r>
            <a:endParaRPr lang="en-US" altLang="ja-JP" sz="2000" dirty="0">
              <a:solidFill>
                <a:schemeClr val="bg1"/>
              </a:solidFill>
            </a:endParaRPr>
          </a:p>
          <a:p>
            <a:pPr algn="ctr"/>
            <a:r>
              <a:rPr lang="ja-JP" altLang="en-US" sz="2000" dirty="0">
                <a:solidFill>
                  <a:schemeClr val="bg1"/>
                </a:solidFill>
              </a:rPr>
              <a:t>１つになる</a:t>
            </a:r>
            <a:endParaRPr kumimoji="1" lang="ja-JP" altLang="en-US" sz="2000" dirty="0">
              <a:solidFill>
                <a:schemeClr val="bg1"/>
              </a:solidFill>
            </a:endParaRPr>
          </a:p>
        </p:txBody>
      </p:sp>
      <p:sp>
        <p:nvSpPr>
          <p:cNvPr id="31" name="四角形: 角を丸くする 30">
            <a:extLst>
              <a:ext uri="{FF2B5EF4-FFF2-40B4-BE49-F238E27FC236}">
                <a16:creationId xmlns:a16="http://schemas.microsoft.com/office/drawing/2014/main" id="{9253C941-3476-0751-B0DF-AA248B8F0795}"/>
              </a:ext>
            </a:extLst>
          </p:cNvPr>
          <p:cNvSpPr/>
          <p:nvPr/>
        </p:nvSpPr>
        <p:spPr>
          <a:xfrm>
            <a:off x="10034507" y="3447685"/>
            <a:ext cx="209306" cy="224109"/>
          </a:xfrm>
          <a:prstGeom prst="roundRect">
            <a:avLst>
              <a:gd name="adj" fmla="val 6746"/>
            </a:avLst>
          </a:prstGeom>
          <a:solidFill>
            <a:schemeClr val="bg1"/>
          </a:solid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solidFill>
            </a:endParaRPr>
          </a:p>
        </p:txBody>
      </p:sp>
      <p:sp>
        <p:nvSpPr>
          <p:cNvPr id="35" name="テキスト ボックス 34">
            <a:extLst>
              <a:ext uri="{FF2B5EF4-FFF2-40B4-BE49-F238E27FC236}">
                <a16:creationId xmlns:a16="http://schemas.microsoft.com/office/drawing/2014/main" id="{F0C9C2B2-62A5-16BE-8627-B16BE9A7B3D5}"/>
              </a:ext>
            </a:extLst>
          </p:cNvPr>
          <p:cNvSpPr txBox="1"/>
          <p:nvPr/>
        </p:nvSpPr>
        <p:spPr>
          <a:xfrm>
            <a:off x="10140244" y="3372961"/>
            <a:ext cx="1346136" cy="369332"/>
          </a:xfrm>
          <a:prstGeom prst="rect">
            <a:avLst/>
          </a:prstGeom>
          <a:noFill/>
        </p:spPr>
        <p:txBody>
          <a:bodyPr wrap="square" rtlCol="0">
            <a:spAutoFit/>
          </a:bodyPr>
          <a:lstStyle/>
          <a:p>
            <a:r>
              <a:rPr lang="ja-JP" altLang="en-US" dirty="0"/>
              <a:t>：変更箇所</a:t>
            </a:r>
            <a:endParaRPr kumimoji="1" lang="en-US" altLang="ja-JP" dirty="0"/>
          </a:p>
        </p:txBody>
      </p:sp>
      <p:cxnSp>
        <p:nvCxnSpPr>
          <p:cNvPr id="37" name="直線矢印コネクタ 36">
            <a:extLst>
              <a:ext uri="{FF2B5EF4-FFF2-40B4-BE49-F238E27FC236}">
                <a16:creationId xmlns:a16="http://schemas.microsoft.com/office/drawing/2014/main" id="{109A8693-FE8A-2AAB-D195-F2E71077F9D1}"/>
              </a:ext>
            </a:extLst>
          </p:cNvPr>
          <p:cNvCxnSpPr>
            <a:endCxn id="10" idx="0"/>
          </p:cNvCxnSpPr>
          <p:nvPr/>
        </p:nvCxnSpPr>
        <p:spPr>
          <a:xfrm>
            <a:off x="2501424" y="5415861"/>
            <a:ext cx="1" cy="443303"/>
          </a:xfrm>
          <a:prstGeom prst="straightConnector1">
            <a:avLst/>
          </a:prstGeom>
          <a:ln>
            <a:solidFill>
              <a:schemeClr val="tx1"/>
            </a:solidFill>
            <a:prstDash val="sysDash"/>
            <a:tailEnd type="triangle"/>
          </a:ln>
        </p:spPr>
        <p:style>
          <a:lnRef idx="2">
            <a:schemeClr val="accent1"/>
          </a:lnRef>
          <a:fillRef idx="0">
            <a:schemeClr val="accent1"/>
          </a:fillRef>
          <a:effectRef idx="1">
            <a:schemeClr val="accent1"/>
          </a:effectRef>
          <a:fontRef idx="minor">
            <a:schemeClr val="tx1"/>
          </a:fontRef>
        </p:style>
      </p:cxnSp>
      <p:cxnSp>
        <p:nvCxnSpPr>
          <p:cNvPr id="38" name="直線矢印コネクタ 37">
            <a:extLst>
              <a:ext uri="{FF2B5EF4-FFF2-40B4-BE49-F238E27FC236}">
                <a16:creationId xmlns:a16="http://schemas.microsoft.com/office/drawing/2014/main" id="{6CC98D50-0660-F454-801C-A5C532189555}"/>
              </a:ext>
            </a:extLst>
          </p:cNvPr>
          <p:cNvCxnSpPr>
            <a:cxnSpLocks/>
            <a:stCxn id="21" idx="2"/>
            <a:endCxn id="10" idx="0"/>
          </p:cNvCxnSpPr>
          <p:nvPr/>
        </p:nvCxnSpPr>
        <p:spPr>
          <a:xfrm flipH="1">
            <a:off x="2501425" y="5354306"/>
            <a:ext cx="2094614" cy="504858"/>
          </a:xfrm>
          <a:prstGeom prst="straightConnector1">
            <a:avLst/>
          </a:prstGeom>
          <a:ln>
            <a:solidFill>
              <a:schemeClr val="tx1"/>
            </a:solidFill>
            <a:prstDash val="sysDash"/>
            <a:tailEnd type="triangle"/>
          </a:ln>
        </p:spPr>
        <p:style>
          <a:lnRef idx="2">
            <a:schemeClr val="accent1"/>
          </a:lnRef>
          <a:fillRef idx="0">
            <a:schemeClr val="accent1"/>
          </a:fillRef>
          <a:effectRef idx="1">
            <a:schemeClr val="accent1"/>
          </a:effectRef>
          <a:fontRef idx="minor">
            <a:schemeClr val="tx1"/>
          </a:fontRef>
        </p:style>
      </p:cxnSp>
      <p:cxnSp>
        <p:nvCxnSpPr>
          <p:cNvPr id="41" name="直線矢印コネクタ 40">
            <a:extLst>
              <a:ext uri="{FF2B5EF4-FFF2-40B4-BE49-F238E27FC236}">
                <a16:creationId xmlns:a16="http://schemas.microsoft.com/office/drawing/2014/main" id="{6975E89D-A150-AAEC-4032-7B7742439F9E}"/>
              </a:ext>
            </a:extLst>
          </p:cNvPr>
          <p:cNvCxnSpPr>
            <a:cxnSpLocks/>
            <a:stCxn id="15" idx="2"/>
            <a:endCxn id="14" idx="0"/>
          </p:cNvCxnSpPr>
          <p:nvPr/>
        </p:nvCxnSpPr>
        <p:spPr>
          <a:xfrm>
            <a:off x="7722011" y="4943177"/>
            <a:ext cx="0" cy="545601"/>
          </a:xfrm>
          <a:prstGeom prst="straightConnector1">
            <a:avLst/>
          </a:prstGeom>
          <a:ln>
            <a:solidFill>
              <a:schemeClr val="tx1"/>
            </a:solidFill>
            <a:prstDash val="sysDash"/>
            <a:tailEnd type="triangle"/>
          </a:ln>
        </p:spPr>
        <p:style>
          <a:lnRef idx="2">
            <a:schemeClr val="accent1"/>
          </a:lnRef>
          <a:fillRef idx="0">
            <a:schemeClr val="accent1"/>
          </a:fillRef>
          <a:effectRef idx="1">
            <a:schemeClr val="accent1"/>
          </a:effectRef>
          <a:fontRef idx="minor">
            <a:schemeClr val="tx1"/>
          </a:fontRef>
        </p:style>
      </p:cxnSp>
      <p:cxnSp>
        <p:nvCxnSpPr>
          <p:cNvPr id="44" name="直線矢印コネクタ 43">
            <a:extLst>
              <a:ext uri="{FF2B5EF4-FFF2-40B4-BE49-F238E27FC236}">
                <a16:creationId xmlns:a16="http://schemas.microsoft.com/office/drawing/2014/main" id="{21D10E4E-36DD-C985-149A-938D42AFAE42}"/>
              </a:ext>
            </a:extLst>
          </p:cNvPr>
          <p:cNvCxnSpPr>
            <a:cxnSpLocks/>
            <a:stCxn id="16" idx="2"/>
            <a:endCxn id="14" idx="0"/>
          </p:cNvCxnSpPr>
          <p:nvPr/>
        </p:nvCxnSpPr>
        <p:spPr>
          <a:xfrm flipH="1">
            <a:off x="7722011" y="4943177"/>
            <a:ext cx="2094614" cy="545601"/>
          </a:xfrm>
          <a:prstGeom prst="straightConnector1">
            <a:avLst/>
          </a:prstGeom>
          <a:ln>
            <a:solidFill>
              <a:schemeClr val="tx1"/>
            </a:solidFill>
            <a:prstDash val="sysDash"/>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08448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AF24093-ED5B-C5C2-DC94-BAC44A8926B8}"/>
              </a:ext>
            </a:extLst>
          </p:cNvPr>
          <p:cNvSpPr>
            <a:spLocks noGrp="1"/>
          </p:cNvSpPr>
          <p:nvPr>
            <p:ph type="title"/>
          </p:nvPr>
        </p:nvSpPr>
        <p:spPr/>
        <p:txBody>
          <a:bodyPr/>
          <a:lstStyle/>
          <a:p>
            <a:r>
              <a:rPr kumimoji="1" lang="ja-JP" altLang="en-US" dirty="0"/>
              <a:t>印象に残った学び②</a:t>
            </a:r>
          </a:p>
        </p:txBody>
      </p:sp>
      <p:sp>
        <p:nvSpPr>
          <p:cNvPr id="4" name="スライド番号プレースホルダー 3">
            <a:extLst>
              <a:ext uri="{FF2B5EF4-FFF2-40B4-BE49-F238E27FC236}">
                <a16:creationId xmlns:a16="http://schemas.microsoft.com/office/drawing/2014/main" id="{2115B197-2272-D677-15F0-4CAE39BFF50C}"/>
              </a:ext>
            </a:extLst>
          </p:cNvPr>
          <p:cNvSpPr>
            <a:spLocks noGrp="1"/>
          </p:cNvSpPr>
          <p:nvPr>
            <p:ph type="sldNum" sz="quarter" idx="12"/>
          </p:nvPr>
        </p:nvSpPr>
        <p:spPr/>
        <p:txBody>
          <a:bodyPr/>
          <a:lstStyle/>
          <a:p>
            <a:fld id="{00D2F285-7DC3-4F9C-8E53-6893EECBFE42}" type="slidenum">
              <a:rPr kumimoji="1" lang="ja-JP" altLang="en-US" smtClean="0"/>
              <a:t>5</a:t>
            </a:fld>
            <a:endParaRPr kumimoji="1" lang="ja-JP" altLang="en-US"/>
          </a:p>
        </p:txBody>
      </p:sp>
      <p:sp>
        <p:nvSpPr>
          <p:cNvPr id="5" name="テキスト ボックス 4">
            <a:extLst>
              <a:ext uri="{FF2B5EF4-FFF2-40B4-BE49-F238E27FC236}">
                <a16:creationId xmlns:a16="http://schemas.microsoft.com/office/drawing/2014/main" id="{BD1AB5C7-2051-7DF5-D962-C52AF9B553E8}"/>
              </a:ext>
            </a:extLst>
          </p:cNvPr>
          <p:cNvSpPr txBox="1"/>
          <p:nvPr/>
        </p:nvSpPr>
        <p:spPr>
          <a:xfrm>
            <a:off x="781492" y="1193082"/>
            <a:ext cx="10515600" cy="523220"/>
          </a:xfrm>
          <a:prstGeom prst="rect">
            <a:avLst/>
          </a:prstGeom>
          <a:noFill/>
        </p:spPr>
        <p:txBody>
          <a:bodyPr wrap="square" rtlCol="0">
            <a:spAutoFit/>
          </a:bodyPr>
          <a:lstStyle/>
          <a:p>
            <a:pPr marL="342900" indent="-342900">
              <a:buFont typeface="Wingdings" panose="05000000000000000000" pitchFamily="2" charset="2"/>
              <a:buChar char="n"/>
            </a:pPr>
            <a:r>
              <a:rPr kumimoji="1" lang="en-US" altLang="ja-JP" sz="2800" dirty="0" err="1"/>
              <a:t>Shadcn</a:t>
            </a:r>
            <a:r>
              <a:rPr kumimoji="1" lang="en-US" altLang="ja-JP" sz="2800" dirty="0"/>
              <a:t>/</a:t>
            </a:r>
            <a:r>
              <a:rPr kumimoji="1" lang="en-US" altLang="ja-JP" sz="2800" dirty="0" err="1"/>
              <a:t>ui</a:t>
            </a:r>
            <a:r>
              <a:rPr lang="ja-JP" altLang="en-US" sz="2800" dirty="0"/>
              <a:t>：</a:t>
            </a:r>
            <a:r>
              <a:rPr lang="en-US" altLang="ja-JP" sz="2800" dirty="0"/>
              <a:t>React</a:t>
            </a:r>
            <a:r>
              <a:rPr lang="ja-JP" altLang="en-US" sz="2800" dirty="0"/>
              <a:t>の</a:t>
            </a:r>
            <a:r>
              <a:rPr lang="en-US" altLang="ja-JP" sz="2800" dirty="0"/>
              <a:t>UI</a:t>
            </a:r>
            <a:r>
              <a:rPr lang="ja-JP" altLang="en-US" sz="2800" dirty="0"/>
              <a:t>コンポーネントライブラリ</a:t>
            </a:r>
            <a:endParaRPr kumimoji="1" lang="en-US" altLang="ja-JP" sz="2800" dirty="0"/>
          </a:p>
        </p:txBody>
      </p:sp>
      <p:sp>
        <p:nvSpPr>
          <p:cNvPr id="6" name="四角形: 角を丸くする 5">
            <a:extLst>
              <a:ext uri="{FF2B5EF4-FFF2-40B4-BE49-F238E27FC236}">
                <a16:creationId xmlns:a16="http://schemas.microsoft.com/office/drawing/2014/main" id="{C5E53DCC-849E-0BED-140F-26E5EE37F7B6}"/>
              </a:ext>
            </a:extLst>
          </p:cNvPr>
          <p:cNvSpPr/>
          <p:nvPr/>
        </p:nvSpPr>
        <p:spPr>
          <a:xfrm>
            <a:off x="838200" y="1716301"/>
            <a:ext cx="10515600" cy="1622321"/>
          </a:xfrm>
          <a:prstGeom prst="roundRect">
            <a:avLst>
              <a:gd name="adj" fmla="val 6746"/>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29E3F004-20F1-A331-B8CD-D2B885569654}"/>
              </a:ext>
            </a:extLst>
          </p:cNvPr>
          <p:cNvSpPr txBox="1"/>
          <p:nvPr/>
        </p:nvSpPr>
        <p:spPr>
          <a:xfrm>
            <a:off x="1010093" y="1927297"/>
            <a:ext cx="9803219" cy="1200329"/>
          </a:xfrm>
          <a:prstGeom prst="rect">
            <a:avLst/>
          </a:prstGeom>
          <a:noFill/>
        </p:spPr>
        <p:txBody>
          <a:bodyPr wrap="square" rtlCol="0">
            <a:spAutoFit/>
          </a:bodyPr>
          <a:lstStyle/>
          <a:p>
            <a:r>
              <a:rPr kumimoji="1" lang="ja-JP" altLang="en-US" sz="2400" dirty="0">
                <a:solidFill>
                  <a:schemeClr val="bg1"/>
                </a:solidFill>
              </a:rPr>
              <a:t>これまで体験したことのある</a:t>
            </a:r>
            <a:r>
              <a:rPr kumimoji="1" lang="en-US" altLang="ja-JP" sz="2400" dirty="0">
                <a:solidFill>
                  <a:schemeClr val="bg1"/>
                </a:solidFill>
              </a:rPr>
              <a:t>UI</a:t>
            </a:r>
            <a:r>
              <a:rPr kumimoji="1" lang="ja-JP" altLang="en-US" sz="2400" dirty="0">
                <a:solidFill>
                  <a:schemeClr val="bg1"/>
                </a:solidFill>
              </a:rPr>
              <a:t>を実装できて</a:t>
            </a:r>
            <a:r>
              <a:rPr lang="ja-JP" altLang="en-US" sz="2400" dirty="0">
                <a:solidFill>
                  <a:schemeClr val="bg1"/>
                </a:solidFill>
              </a:rPr>
              <a:t>面白い</a:t>
            </a:r>
            <a:endParaRPr kumimoji="1" lang="en-US" altLang="ja-JP" sz="2400" dirty="0">
              <a:solidFill>
                <a:schemeClr val="bg1"/>
              </a:solidFill>
            </a:endParaRPr>
          </a:p>
          <a:p>
            <a:r>
              <a:rPr kumimoji="1" lang="ja-JP" altLang="en-US" sz="2400" dirty="0">
                <a:solidFill>
                  <a:schemeClr val="bg1"/>
                </a:solidFill>
              </a:rPr>
              <a:t>コンポーネントの組み合わせや</a:t>
            </a:r>
            <a:r>
              <a:rPr lang="ja-JP" altLang="en-US" sz="2400" dirty="0">
                <a:solidFill>
                  <a:schemeClr val="bg1"/>
                </a:solidFill>
              </a:rPr>
              <a:t>編集可能なソースコードが実現する</a:t>
            </a:r>
            <a:r>
              <a:rPr kumimoji="1" lang="ja-JP" altLang="en-US" sz="2400" dirty="0">
                <a:solidFill>
                  <a:schemeClr val="bg1"/>
                </a:solidFill>
              </a:rPr>
              <a:t>、</a:t>
            </a:r>
            <a:endParaRPr kumimoji="1" lang="en-US" altLang="ja-JP" sz="2400" dirty="0">
              <a:solidFill>
                <a:schemeClr val="bg1"/>
              </a:solidFill>
            </a:endParaRPr>
          </a:p>
          <a:p>
            <a:r>
              <a:rPr kumimoji="1" lang="ja-JP" altLang="en-US" sz="2400" dirty="0">
                <a:solidFill>
                  <a:schemeClr val="bg1"/>
                </a:solidFill>
              </a:rPr>
              <a:t>高いカスタマイズ性が魅力的である</a:t>
            </a:r>
          </a:p>
        </p:txBody>
      </p:sp>
      <p:pic>
        <p:nvPicPr>
          <p:cNvPr id="9" name="図 8">
            <a:extLst>
              <a:ext uri="{FF2B5EF4-FFF2-40B4-BE49-F238E27FC236}">
                <a16:creationId xmlns:a16="http://schemas.microsoft.com/office/drawing/2014/main" id="{781DBCBE-658F-053E-4E07-536BF910065A}"/>
              </a:ext>
            </a:extLst>
          </p:cNvPr>
          <p:cNvPicPr>
            <a:picLocks noChangeAspect="1"/>
          </p:cNvPicPr>
          <p:nvPr/>
        </p:nvPicPr>
        <p:blipFill>
          <a:blip r:embed="rId2"/>
          <a:srcRect l="7612" t="10100" r="6639" b="14477"/>
          <a:stretch>
            <a:fillRect/>
          </a:stretch>
        </p:blipFill>
        <p:spPr>
          <a:xfrm>
            <a:off x="1908765" y="3749047"/>
            <a:ext cx="4723957" cy="2150792"/>
          </a:xfrm>
          <a:prstGeom prst="roundRect">
            <a:avLst>
              <a:gd name="adj" fmla="val 9081"/>
            </a:avLst>
          </a:prstGeom>
          <a:effectLst>
            <a:outerShdw blurRad="38100" dist="38100" dir="2700000" algn="tl" rotWithShape="0">
              <a:prstClr val="black">
                <a:alpha val="20000"/>
              </a:prstClr>
            </a:outerShdw>
          </a:effectLst>
        </p:spPr>
      </p:pic>
      <p:pic>
        <p:nvPicPr>
          <p:cNvPr id="11" name="図 10">
            <a:extLst>
              <a:ext uri="{FF2B5EF4-FFF2-40B4-BE49-F238E27FC236}">
                <a16:creationId xmlns:a16="http://schemas.microsoft.com/office/drawing/2014/main" id="{D9B1A4D8-3257-85FC-A406-C341B61B2C4E}"/>
              </a:ext>
            </a:extLst>
          </p:cNvPr>
          <p:cNvPicPr>
            <a:picLocks noChangeAspect="1"/>
          </p:cNvPicPr>
          <p:nvPr/>
        </p:nvPicPr>
        <p:blipFill>
          <a:blip r:embed="rId3"/>
          <a:stretch>
            <a:fillRect/>
          </a:stretch>
        </p:blipFill>
        <p:spPr>
          <a:xfrm>
            <a:off x="7809257" y="3749047"/>
            <a:ext cx="1958287" cy="2334881"/>
          </a:xfrm>
          <a:prstGeom prst="roundRect">
            <a:avLst>
              <a:gd name="adj" fmla="val 4994"/>
            </a:avLst>
          </a:prstGeom>
          <a:effectLst>
            <a:outerShdw blurRad="38100" dist="38100" dir="2700000" algn="tl" rotWithShape="0">
              <a:prstClr val="black">
                <a:alpha val="20000"/>
              </a:prstClr>
            </a:outerShdw>
          </a:effectLst>
        </p:spPr>
      </p:pic>
      <p:sp>
        <p:nvSpPr>
          <p:cNvPr id="12" name="テキスト ボックス 11">
            <a:extLst>
              <a:ext uri="{FF2B5EF4-FFF2-40B4-BE49-F238E27FC236}">
                <a16:creationId xmlns:a16="http://schemas.microsoft.com/office/drawing/2014/main" id="{5470328D-EFB1-1967-D69D-71F7BCCBAEC3}"/>
              </a:ext>
            </a:extLst>
          </p:cNvPr>
          <p:cNvSpPr txBox="1"/>
          <p:nvPr/>
        </p:nvSpPr>
        <p:spPr>
          <a:xfrm>
            <a:off x="2251443" y="5936461"/>
            <a:ext cx="4038599" cy="369332"/>
          </a:xfrm>
          <a:prstGeom prst="rect">
            <a:avLst/>
          </a:prstGeom>
          <a:noFill/>
        </p:spPr>
        <p:txBody>
          <a:bodyPr wrap="square" rtlCol="0">
            <a:spAutoFit/>
          </a:bodyPr>
          <a:lstStyle/>
          <a:p>
            <a:r>
              <a:rPr kumimoji="1" lang="ja-JP" altLang="en-US" dirty="0"/>
              <a:t>チェックボックス機能付きテーブル</a:t>
            </a:r>
          </a:p>
        </p:txBody>
      </p:sp>
      <p:sp>
        <p:nvSpPr>
          <p:cNvPr id="13" name="テキスト ボックス 12">
            <a:extLst>
              <a:ext uri="{FF2B5EF4-FFF2-40B4-BE49-F238E27FC236}">
                <a16:creationId xmlns:a16="http://schemas.microsoft.com/office/drawing/2014/main" id="{5DEB2C24-BD7B-0360-1049-21E4826FAC74}"/>
              </a:ext>
            </a:extLst>
          </p:cNvPr>
          <p:cNvSpPr txBox="1"/>
          <p:nvPr/>
        </p:nvSpPr>
        <p:spPr>
          <a:xfrm>
            <a:off x="7315201" y="6090521"/>
            <a:ext cx="2946399" cy="923330"/>
          </a:xfrm>
          <a:prstGeom prst="rect">
            <a:avLst/>
          </a:prstGeom>
          <a:noFill/>
        </p:spPr>
        <p:txBody>
          <a:bodyPr wrap="square" rtlCol="0">
            <a:spAutoFit/>
          </a:bodyPr>
          <a:lstStyle/>
          <a:p>
            <a:pPr algn="ctr"/>
            <a:r>
              <a:rPr lang="ja-JP" altLang="en-US" dirty="0"/>
              <a:t>バッジ・メニュー機能付き</a:t>
            </a:r>
            <a:endParaRPr lang="en-US" altLang="ja-JP" dirty="0"/>
          </a:p>
          <a:p>
            <a:pPr algn="ctr"/>
            <a:r>
              <a:rPr lang="ja-JP" altLang="en-US" dirty="0"/>
              <a:t>プロフィールアイコン</a:t>
            </a:r>
            <a:endParaRPr lang="en-US" altLang="ja-JP" dirty="0"/>
          </a:p>
          <a:p>
            <a:pPr algn="ctr"/>
            <a:endParaRPr lang="en-US" altLang="ja-JP" dirty="0"/>
          </a:p>
        </p:txBody>
      </p:sp>
    </p:spTree>
    <p:extLst>
      <p:ext uri="{BB962C8B-B14F-4D97-AF65-F5344CB8AC3E}">
        <p14:creationId xmlns:p14="http://schemas.microsoft.com/office/powerpoint/2010/main" val="11074890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フリーフォーム: 図形 18">
            <a:extLst>
              <a:ext uri="{FF2B5EF4-FFF2-40B4-BE49-F238E27FC236}">
                <a16:creationId xmlns:a16="http://schemas.microsoft.com/office/drawing/2014/main" id="{2FCD7960-0A20-3B68-9C1E-0C521141D342}"/>
              </a:ext>
            </a:extLst>
          </p:cNvPr>
          <p:cNvSpPr/>
          <p:nvPr/>
        </p:nvSpPr>
        <p:spPr>
          <a:xfrm>
            <a:off x="1079500" y="1841499"/>
            <a:ext cx="673100" cy="4155264"/>
          </a:xfrm>
          <a:custGeom>
            <a:avLst/>
            <a:gdLst>
              <a:gd name="csX0" fmla="*/ 0 w 673100"/>
              <a:gd name="csY0" fmla="*/ 0 h 2197100"/>
              <a:gd name="csX1" fmla="*/ 0 w 673100"/>
              <a:gd name="csY1" fmla="*/ 2197100 h 2197100"/>
              <a:gd name="csX2" fmla="*/ 673100 w 673100"/>
              <a:gd name="csY2" fmla="*/ 2197100 h 2197100"/>
            </a:gdLst>
            <a:ahLst/>
            <a:cxnLst>
              <a:cxn ang="0">
                <a:pos x="csX0" y="csY0"/>
              </a:cxn>
              <a:cxn ang="0">
                <a:pos x="csX1" y="csY1"/>
              </a:cxn>
              <a:cxn ang="0">
                <a:pos x="csX2" y="csY2"/>
              </a:cxn>
            </a:cxnLst>
            <a:rect l="l" t="t" r="r" b="b"/>
            <a:pathLst>
              <a:path w="673100" h="2197100">
                <a:moveTo>
                  <a:pt x="0" y="0"/>
                </a:moveTo>
                <a:lnTo>
                  <a:pt x="0" y="2197100"/>
                </a:lnTo>
                <a:lnTo>
                  <a:pt x="673100" y="2197100"/>
                </a:ln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直線コネクタ 20">
            <a:extLst>
              <a:ext uri="{FF2B5EF4-FFF2-40B4-BE49-F238E27FC236}">
                <a16:creationId xmlns:a16="http://schemas.microsoft.com/office/drawing/2014/main" id="{0C9731F9-AC6E-DC33-1DA9-0E54051D05D4}"/>
              </a:ext>
            </a:extLst>
          </p:cNvPr>
          <p:cNvCxnSpPr>
            <a:cxnSpLocks/>
            <a:endCxn id="8" idx="1"/>
          </p:cNvCxnSpPr>
          <p:nvPr/>
        </p:nvCxnSpPr>
        <p:spPr>
          <a:xfrm>
            <a:off x="1079500" y="3037827"/>
            <a:ext cx="670062"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2" name="直線コネクタ 31">
            <a:extLst>
              <a:ext uri="{FF2B5EF4-FFF2-40B4-BE49-F238E27FC236}">
                <a16:creationId xmlns:a16="http://schemas.microsoft.com/office/drawing/2014/main" id="{9297B92D-1B09-AFDB-6694-5944A9DB7029}"/>
              </a:ext>
            </a:extLst>
          </p:cNvPr>
          <p:cNvCxnSpPr>
            <a:cxnSpLocks/>
          </p:cNvCxnSpPr>
          <p:nvPr/>
        </p:nvCxnSpPr>
        <p:spPr>
          <a:xfrm>
            <a:off x="1079500" y="4460809"/>
            <a:ext cx="670062" cy="0"/>
          </a:xfrm>
          <a:prstGeom prst="line">
            <a:avLst/>
          </a:prstGeom>
          <a:ln w="19050">
            <a:solidFill>
              <a:schemeClr val="tx1"/>
            </a:solidFill>
          </a:ln>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2036F86A-B7B8-F084-6288-5515321FC762}"/>
              </a:ext>
            </a:extLst>
          </p:cNvPr>
          <p:cNvSpPr>
            <a:spLocks noGrp="1"/>
          </p:cNvSpPr>
          <p:nvPr>
            <p:ph type="title"/>
          </p:nvPr>
        </p:nvSpPr>
        <p:spPr/>
        <p:txBody>
          <a:bodyPr>
            <a:normAutofit/>
          </a:bodyPr>
          <a:lstStyle/>
          <a:p>
            <a:r>
              <a:rPr kumimoji="1" lang="en-US" altLang="ja-JP" dirty="0"/>
              <a:t>5</a:t>
            </a:r>
            <a:r>
              <a:rPr kumimoji="1" lang="ja-JP" altLang="en-US" dirty="0"/>
              <a:t>月からの変化</a:t>
            </a:r>
          </a:p>
        </p:txBody>
      </p:sp>
      <p:sp>
        <p:nvSpPr>
          <p:cNvPr id="4" name="スライド番号プレースホルダー 3">
            <a:extLst>
              <a:ext uri="{FF2B5EF4-FFF2-40B4-BE49-F238E27FC236}">
                <a16:creationId xmlns:a16="http://schemas.microsoft.com/office/drawing/2014/main" id="{4FD69FAA-FCEE-C44E-EF20-E5D873C9D416}"/>
              </a:ext>
            </a:extLst>
          </p:cNvPr>
          <p:cNvSpPr>
            <a:spLocks noGrp="1"/>
          </p:cNvSpPr>
          <p:nvPr>
            <p:ph type="sldNum" sz="quarter" idx="12"/>
          </p:nvPr>
        </p:nvSpPr>
        <p:spPr/>
        <p:txBody>
          <a:bodyPr/>
          <a:lstStyle/>
          <a:p>
            <a:fld id="{00D2F285-7DC3-4F9C-8E53-6893EECBFE42}" type="slidenum">
              <a:rPr kumimoji="1" lang="ja-JP" altLang="en-US" smtClean="0"/>
              <a:t>6</a:t>
            </a:fld>
            <a:endParaRPr kumimoji="1" lang="ja-JP" altLang="en-US"/>
          </a:p>
        </p:txBody>
      </p:sp>
      <p:sp>
        <p:nvSpPr>
          <p:cNvPr id="7" name="テキスト ボックス 6">
            <a:extLst>
              <a:ext uri="{FF2B5EF4-FFF2-40B4-BE49-F238E27FC236}">
                <a16:creationId xmlns:a16="http://schemas.microsoft.com/office/drawing/2014/main" id="{09A94905-D7B4-AFD8-64E9-8CC1A97D506A}"/>
              </a:ext>
            </a:extLst>
          </p:cNvPr>
          <p:cNvSpPr txBox="1"/>
          <p:nvPr/>
        </p:nvSpPr>
        <p:spPr>
          <a:xfrm>
            <a:off x="520148" y="1288573"/>
            <a:ext cx="7544352" cy="523220"/>
          </a:xfrm>
          <a:prstGeom prst="rect">
            <a:avLst/>
          </a:prstGeom>
          <a:noFill/>
        </p:spPr>
        <p:txBody>
          <a:bodyPr wrap="square" rtlCol="0">
            <a:spAutoFit/>
          </a:bodyPr>
          <a:lstStyle/>
          <a:p>
            <a:pPr marL="457200" indent="-457200">
              <a:buFont typeface="Wingdings" panose="05000000000000000000" pitchFamily="2" charset="2"/>
              <a:buChar char="n"/>
            </a:pPr>
            <a:r>
              <a:rPr lang="ja-JP" altLang="en-US" sz="2800" dirty="0"/>
              <a:t>開発演習時にクラス図の修正量が減少した</a:t>
            </a:r>
            <a:endParaRPr lang="en-US" altLang="ja-JP" sz="2800" dirty="0"/>
          </a:p>
        </p:txBody>
      </p:sp>
      <p:grpSp>
        <p:nvGrpSpPr>
          <p:cNvPr id="29" name="グループ化 28">
            <a:extLst>
              <a:ext uri="{FF2B5EF4-FFF2-40B4-BE49-F238E27FC236}">
                <a16:creationId xmlns:a16="http://schemas.microsoft.com/office/drawing/2014/main" id="{A6D94C21-525D-CC5E-5330-FED78CA1605B}"/>
              </a:ext>
            </a:extLst>
          </p:cNvPr>
          <p:cNvGrpSpPr/>
          <p:nvPr/>
        </p:nvGrpSpPr>
        <p:grpSpPr>
          <a:xfrm>
            <a:off x="1749562" y="2279909"/>
            <a:ext cx="9829524" cy="1115727"/>
            <a:chOff x="1749562" y="2377647"/>
            <a:chExt cx="9829524" cy="1115727"/>
          </a:xfrm>
        </p:grpSpPr>
        <p:grpSp>
          <p:nvGrpSpPr>
            <p:cNvPr id="17" name="グループ化 16">
              <a:extLst>
                <a:ext uri="{FF2B5EF4-FFF2-40B4-BE49-F238E27FC236}">
                  <a16:creationId xmlns:a16="http://schemas.microsoft.com/office/drawing/2014/main" id="{13CA5FD7-FF24-12DF-F449-CC5990894B30}"/>
                </a:ext>
              </a:extLst>
            </p:cNvPr>
            <p:cNvGrpSpPr/>
            <p:nvPr/>
          </p:nvGrpSpPr>
          <p:grpSpPr>
            <a:xfrm>
              <a:off x="1749562" y="2777756"/>
              <a:ext cx="9829524" cy="715618"/>
              <a:chOff x="1749562" y="2400300"/>
              <a:chExt cx="9829524" cy="715618"/>
            </a:xfrm>
          </p:grpSpPr>
          <p:sp>
            <p:nvSpPr>
              <p:cNvPr id="8" name="四角形: 角を丸くする 7">
                <a:extLst>
                  <a:ext uri="{FF2B5EF4-FFF2-40B4-BE49-F238E27FC236}">
                    <a16:creationId xmlns:a16="http://schemas.microsoft.com/office/drawing/2014/main" id="{EDB3F4FE-1CE9-B40A-B813-75C53FF96EBD}"/>
                  </a:ext>
                </a:extLst>
              </p:cNvPr>
              <p:cNvSpPr/>
              <p:nvPr/>
            </p:nvSpPr>
            <p:spPr>
              <a:xfrm>
                <a:off x="1749562" y="2400300"/>
                <a:ext cx="9550400" cy="715618"/>
              </a:xfrm>
              <a:prstGeom prst="roundRect">
                <a:avLst>
                  <a:gd name="adj" fmla="val 6353"/>
                </a:avLst>
              </a:prstGeom>
              <a:solidFill>
                <a:schemeClr val="accent4">
                  <a:lumMod val="20000"/>
                  <a:lumOff val="80000"/>
                </a:schemeClr>
              </a:solidFill>
              <a:ln w="381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 name="テキスト ボックス 9">
                <a:extLst>
                  <a:ext uri="{FF2B5EF4-FFF2-40B4-BE49-F238E27FC236}">
                    <a16:creationId xmlns:a16="http://schemas.microsoft.com/office/drawing/2014/main" id="{E4D6A614-851A-63E1-7F3D-F0582FA3DCF3}"/>
                  </a:ext>
                </a:extLst>
              </p:cNvPr>
              <p:cNvSpPr txBox="1"/>
              <p:nvPr/>
            </p:nvSpPr>
            <p:spPr>
              <a:xfrm>
                <a:off x="1873250" y="2558054"/>
                <a:ext cx="9705836" cy="400110"/>
              </a:xfrm>
              <a:prstGeom prst="rect">
                <a:avLst/>
              </a:prstGeom>
              <a:noFill/>
            </p:spPr>
            <p:txBody>
              <a:bodyPr wrap="square" rtlCol="0">
                <a:spAutoFit/>
              </a:bodyPr>
              <a:lstStyle/>
              <a:p>
                <a:r>
                  <a:rPr lang="ja-JP" altLang="en-US" sz="2000" dirty="0"/>
                  <a:t>前回の演習で、各クラスの配置のコツや矢印の使い方などを学んだ</a:t>
                </a:r>
                <a:endParaRPr lang="en-US" altLang="ja-JP" sz="2000" dirty="0"/>
              </a:p>
            </p:txBody>
          </p:sp>
        </p:grpSp>
        <p:sp>
          <p:nvSpPr>
            <p:cNvPr id="23" name="テキスト ボックス 22">
              <a:extLst>
                <a:ext uri="{FF2B5EF4-FFF2-40B4-BE49-F238E27FC236}">
                  <a16:creationId xmlns:a16="http://schemas.microsoft.com/office/drawing/2014/main" id="{0932FE72-284F-C79B-09BE-6845D49EE32B}"/>
                </a:ext>
              </a:extLst>
            </p:cNvPr>
            <p:cNvSpPr txBox="1"/>
            <p:nvPr/>
          </p:nvSpPr>
          <p:spPr>
            <a:xfrm>
              <a:off x="1749562" y="2377647"/>
              <a:ext cx="1143000" cy="400110"/>
            </a:xfrm>
            <a:prstGeom prst="rect">
              <a:avLst/>
            </a:prstGeom>
            <a:noFill/>
          </p:spPr>
          <p:txBody>
            <a:bodyPr wrap="square" rtlCol="0">
              <a:spAutoFit/>
            </a:bodyPr>
            <a:lstStyle/>
            <a:p>
              <a:r>
                <a:rPr kumimoji="1" lang="ja-JP" altLang="en-US" sz="2000" dirty="0"/>
                <a:t>要因①</a:t>
              </a:r>
            </a:p>
          </p:txBody>
        </p:sp>
      </p:grpSp>
      <p:grpSp>
        <p:nvGrpSpPr>
          <p:cNvPr id="31" name="グループ化 30">
            <a:extLst>
              <a:ext uri="{FF2B5EF4-FFF2-40B4-BE49-F238E27FC236}">
                <a16:creationId xmlns:a16="http://schemas.microsoft.com/office/drawing/2014/main" id="{036A4A29-8E76-03A6-A48C-031CF7C63987}"/>
              </a:ext>
            </a:extLst>
          </p:cNvPr>
          <p:cNvGrpSpPr/>
          <p:nvPr/>
        </p:nvGrpSpPr>
        <p:grpSpPr>
          <a:xfrm>
            <a:off x="1749562" y="5125872"/>
            <a:ext cx="9829524" cy="1158028"/>
            <a:chOff x="1749562" y="5125872"/>
            <a:chExt cx="9829524" cy="1158028"/>
          </a:xfrm>
        </p:grpSpPr>
        <p:grpSp>
          <p:nvGrpSpPr>
            <p:cNvPr id="18" name="グループ化 17">
              <a:extLst>
                <a:ext uri="{FF2B5EF4-FFF2-40B4-BE49-F238E27FC236}">
                  <a16:creationId xmlns:a16="http://schemas.microsoft.com/office/drawing/2014/main" id="{FD2E832D-00D9-A045-D045-F031F9CFE904}"/>
                </a:ext>
              </a:extLst>
            </p:cNvPr>
            <p:cNvGrpSpPr/>
            <p:nvPr/>
          </p:nvGrpSpPr>
          <p:grpSpPr>
            <a:xfrm>
              <a:off x="1749562" y="5568282"/>
              <a:ext cx="9829524" cy="715618"/>
              <a:chOff x="1749562" y="3355668"/>
              <a:chExt cx="9829524" cy="715618"/>
            </a:xfrm>
          </p:grpSpPr>
          <p:sp>
            <p:nvSpPr>
              <p:cNvPr id="13" name="四角形: 角を丸くする 12">
                <a:extLst>
                  <a:ext uri="{FF2B5EF4-FFF2-40B4-BE49-F238E27FC236}">
                    <a16:creationId xmlns:a16="http://schemas.microsoft.com/office/drawing/2014/main" id="{90F90605-38E9-1F3F-B95E-5198B55FA850}"/>
                  </a:ext>
                </a:extLst>
              </p:cNvPr>
              <p:cNvSpPr/>
              <p:nvPr/>
            </p:nvSpPr>
            <p:spPr>
              <a:xfrm>
                <a:off x="1749562" y="3355668"/>
                <a:ext cx="9550400" cy="715618"/>
              </a:xfrm>
              <a:prstGeom prst="roundRect">
                <a:avLst>
                  <a:gd name="adj" fmla="val 6353"/>
                </a:avLst>
              </a:prstGeom>
              <a:solidFill>
                <a:schemeClr val="accent4">
                  <a:lumMod val="20000"/>
                  <a:lumOff val="80000"/>
                </a:schemeClr>
              </a:solidFill>
              <a:ln w="381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テキスト ボックス 13">
                <a:extLst>
                  <a:ext uri="{FF2B5EF4-FFF2-40B4-BE49-F238E27FC236}">
                    <a16:creationId xmlns:a16="http://schemas.microsoft.com/office/drawing/2014/main" id="{2A72516A-F2D1-A8CA-BFE7-32A4E0C7AE5D}"/>
                  </a:ext>
                </a:extLst>
              </p:cNvPr>
              <p:cNvSpPr txBox="1"/>
              <p:nvPr/>
            </p:nvSpPr>
            <p:spPr>
              <a:xfrm>
                <a:off x="1873250" y="3513422"/>
                <a:ext cx="9705836" cy="400110"/>
              </a:xfrm>
              <a:prstGeom prst="rect">
                <a:avLst/>
              </a:prstGeom>
              <a:noFill/>
            </p:spPr>
            <p:txBody>
              <a:bodyPr wrap="square" rtlCol="0">
                <a:spAutoFit/>
              </a:bodyPr>
              <a:lstStyle/>
              <a:p>
                <a:r>
                  <a:rPr lang="en-US" altLang="ja-JP" sz="2000" dirty="0"/>
                  <a:t>DDD</a:t>
                </a:r>
                <a:r>
                  <a:rPr lang="ja-JP" altLang="en-US" sz="2000" dirty="0"/>
                  <a:t>を学び、レイヤーやクラスごとに求められる責務への理解が鮮明になった</a:t>
                </a:r>
                <a:endParaRPr lang="en-US" altLang="ja-JP" sz="2000" dirty="0"/>
              </a:p>
            </p:txBody>
          </p:sp>
        </p:grpSp>
        <p:sp>
          <p:nvSpPr>
            <p:cNvPr id="24" name="テキスト ボックス 23">
              <a:extLst>
                <a:ext uri="{FF2B5EF4-FFF2-40B4-BE49-F238E27FC236}">
                  <a16:creationId xmlns:a16="http://schemas.microsoft.com/office/drawing/2014/main" id="{1BC81678-1A81-1CE6-9A3B-EE752821C628}"/>
                </a:ext>
              </a:extLst>
            </p:cNvPr>
            <p:cNvSpPr txBox="1"/>
            <p:nvPr/>
          </p:nvSpPr>
          <p:spPr>
            <a:xfrm>
              <a:off x="1749562" y="5125872"/>
              <a:ext cx="1143000" cy="400110"/>
            </a:xfrm>
            <a:prstGeom prst="rect">
              <a:avLst/>
            </a:prstGeom>
            <a:noFill/>
          </p:spPr>
          <p:txBody>
            <a:bodyPr wrap="square" rtlCol="0">
              <a:spAutoFit/>
            </a:bodyPr>
            <a:lstStyle/>
            <a:p>
              <a:r>
                <a:rPr kumimoji="1" lang="ja-JP" altLang="en-US" sz="2000" dirty="0"/>
                <a:t>要因③</a:t>
              </a:r>
            </a:p>
          </p:txBody>
        </p:sp>
      </p:grpSp>
      <p:grpSp>
        <p:nvGrpSpPr>
          <p:cNvPr id="30" name="グループ化 29">
            <a:extLst>
              <a:ext uri="{FF2B5EF4-FFF2-40B4-BE49-F238E27FC236}">
                <a16:creationId xmlns:a16="http://schemas.microsoft.com/office/drawing/2014/main" id="{C03C7C3C-7272-9A35-4440-7F633CE91C94}"/>
              </a:ext>
            </a:extLst>
          </p:cNvPr>
          <p:cNvGrpSpPr/>
          <p:nvPr/>
        </p:nvGrpSpPr>
        <p:grpSpPr>
          <a:xfrm>
            <a:off x="1749562" y="3702891"/>
            <a:ext cx="9829524" cy="1115727"/>
            <a:chOff x="1749562" y="3652336"/>
            <a:chExt cx="9829524" cy="1115727"/>
          </a:xfrm>
        </p:grpSpPr>
        <p:grpSp>
          <p:nvGrpSpPr>
            <p:cNvPr id="25" name="グループ化 24">
              <a:extLst>
                <a:ext uri="{FF2B5EF4-FFF2-40B4-BE49-F238E27FC236}">
                  <a16:creationId xmlns:a16="http://schemas.microsoft.com/office/drawing/2014/main" id="{F15E8B8E-008B-B374-8E36-64C188F1EAD9}"/>
                </a:ext>
              </a:extLst>
            </p:cNvPr>
            <p:cNvGrpSpPr/>
            <p:nvPr/>
          </p:nvGrpSpPr>
          <p:grpSpPr>
            <a:xfrm>
              <a:off x="1749562" y="4052445"/>
              <a:ext cx="9829524" cy="715618"/>
              <a:chOff x="1749562" y="2400300"/>
              <a:chExt cx="9829524" cy="715618"/>
            </a:xfrm>
          </p:grpSpPr>
          <p:sp>
            <p:nvSpPr>
              <p:cNvPr id="26" name="四角形: 角を丸くする 25">
                <a:extLst>
                  <a:ext uri="{FF2B5EF4-FFF2-40B4-BE49-F238E27FC236}">
                    <a16:creationId xmlns:a16="http://schemas.microsoft.com/office/drawing/2014/main" id="{EEF2D9A1-A08F-B7B9-EFAA-4532A8E19AAF}"/>
                  </a:ext>
                </a:extLst>
              </p:cNvPr>
              <p:cNvSpPr/>
              <p:nvPr/>
            </p:nvSpPr>
            <p:spPr>
              <a:xfrm>
                <a:off x="1749562" y="2400300"/>
                <a:ext cx="9550400" cy="715618"/>
              </a:xfrm>
              <a:prstGeom prst="roundRect">
                <a:avLst>
                  <a:gd name="adj" fmla="val 6353"/>
                </a:avLst>
              </a:prstGeom>
              <a:solidFill>
                <a:schemeClr val="accent4">
                  <a:lumMod val="20000"/>
                  <a:lumOff val="80000"/>
                </a:schemeClr>
              </a:solidFill>
              <a:ln w="38100">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CDCE6E52-2AFC-2E7C-80C7-E25D8A79D3EE}"/>
                  </a:ext>
                </a:extLst>
              </p:cNvPr>
              <p:cNvSpPr txBox="1"/>
              <p:nvPr/>
            </p:nvSpPr>
            <p:spPr>
              <a:xfrm>
                <a:off x="1873250" y="2558054"/>
                <a:ext cx="9705836" cy="400110"/>
              </a:xfrm>
              <a:prstGeom prst="rect">
                <a:avLst/>
              </a:prstGeom>
              <a:noFill/>
            </p:spPr>
            <p:txBody>
              <a:bodyPr wrap="square" rtlCol="0">
                <a:spAutoFit/>
              </a:bodyPr>
              <a:lstStyle/>
              <a:p>
                <a:r>
                  <a:rPr lang="ja-JP" altLang="en-US" sz="2000" dirty="0"/>
                  <a:t>前回の経験を活かし、漏れていた項目を追加できた</a:t>
                </a:r>
                <a:endParaRPr lang="en-US" altLang="ja-JP" sz="2000" dirty="0"/>
              </a:p>
            </p:txBody>
          </p:sp>
        </p:grpSp>
        <p:sp>
          <p:nvSpPr>
            <p:cNvPr id="28" name="テキスト ボックス 27">
              <a:extLst>
                <a:ext uri="{FF2B5EF4-FFF2-40B4-BE49-F238E27FC236}">
                  <a16:creationId xmlns:a16="http://schemas.microsoft.com/office/drawing/2014/main" id="{685D1D87-3BF6-2787-2055-3E6BA21EA662}"/>
                </a:ext>
              </a:extLst>
            </p:cNvPr>
            <p:cNvSpPr txBox="1"/>
            <p:nvPr/>
          </p:nvSpPr>
          <p:spPr>
            <a:xfrm>
              <a:off x="1749562" y="3652336"/>
              <a:ext cx="1143000" cy="400110"/>
            </a:xfrm>
            <a:prstGeom prst="rect">
              <a:avLst/>
            </a:prstGeom>
            <a:noFill/>
          </p:spPr>
          <p:txBody>
            <a:bodyPr wrap="square" rtlCol="0">
              <a:spAutoFit/>
            </a:bodyPr>
            <a:lstStyle/>
            <a:p>
              <a:r>
                <a:rPr kumimoji="1" lang="ja-JP" altLang="en-US" sz="2000" dirty="0"/>
                <a:t>要因②</a:t>
              </a:r>
            </a:p>
          </p:txBody>
        </p:sp>
      </p:grpSp>
    </p:spTree>
    <p:extLst>
      <p:ext uri="{BB962C8B-B14F-4D97-AF65-F5344CB8AC3E}">
        <p14:creationId xmlns:p14="http://schemas.microsoft.com/office/powerpoint/2010/main" val="8851726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四角形: 角を丸くする 10">
            <a:extLst>
              <a:ext uri="{FF2B5EF4-FFF2-40B4-BE49-F238E27FC236}">
                <a16:creationId xmlns:a16="http://schemas.microsoft.com/office/drawing/2014/main" id="{264472C3-997A-5D00-3EF3-EF8D366AE54E}"/>
              </a:ext>
            </a:extLst>
          </p:cNvPr>
          <p:cNvSpPr/>
          <p:nvPr/>
        </p:nvSpPr>
        <p:spPr>
          <a:xfrm>
            <a:off x="1701209" y="3730093"/>
            <a:ext cx="9494876" cy="823456"/>
          </a:xfrm>
          <a:prstGeom prst="roundRect">
            <a:avLst>
              <a:gd name="adj" fmla="val 6746"/>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solidFill>
            </a:endParaRPr>
          </a:p>
        </p:txBody>
      </p:sp>
      <p:sp>
        <p:nvSpPr>
          <p:cNvPr id="9" name="四角形: 角を丸くする 8">
            <a:extLst>
              <a:ext uri="{FF2B5EF4-FFF2-40B4-BE49-F238E27FC236}">
                <a16:creationId xmlns:a16="http://schemas.microsoft.com/office/drawing/2014/main" id="{E21CA868-9B4A-85A6-2396-65504FD534CC}"/>
              </a:ext>
            </a:extLst>
          </p:cNvPr>
          <p:cNvSpPr/>
          <p:nvPr/>
        </p:nvSpPr>
        <p:spPr>
          <a:xfrm>
            <a:off x="1701209" y="2359040"/>
            <a:ext cx="9494876" cy="823456"/>
          </a:xfrm>
          <a:prstGeom prst="roundRect">
            <a:avLst>
              <a:gd name="adj" fmla="val 6746"/>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タイトル 1">
            <a:extLst>
              <a:ext uri="{FF2B5EF4-FFF2-40B4-BE49-F238E27FC236}">
                <a16:creationId xmlns:a16="http://schemas.microsoft.com/office/drawing/2014/main" id="{A9B15B24-11F1-27FA-00C5-16C13E33488A}"/>
              </a:ext>
            </a:extLst>
          </p:cNvPr>
          <p:cNvSpPr>
            <a:spLocks noGrp="1"/>
          </p:cNvSpPr>
          <p:nvPr>
            <p:ph type="title"/>
          </p:nvPr>
        </p:nvSpPr>
        <p:spPr/>
        <p:txBody>
          <a:bodyPr/>
          <a:lstStyle/>
          <a:p>
            <a:r>
              <a:rPr lang="ja-JP" altLang="en-US" dirty="0"/>
              <a:t>発見された</a:t>
            </a:r>
            <a:r>
              <a:rPr kumimoji="1" lang="ja-JP" altLang="en-US" dirty="0"/>
              <a:t>課題</a:t>
            </a:r>
          </a:p>
        </p:txBody>
      </p:sp>
      <p:sp>
        <p:nvSpPr>
          <p:cNvPr id="3" name="コンテンツ プレースホルダー 2">
            <a:extLst>
              <a:ext uri="{FF2B5EF4-FFF2-40B4-BE49-F238E27FC236}">
                <a16:creationId xmlns:a16="http://schemas.microsoft.com/office/drawing/2014/main" id="{15D60F62-6EE9-768B-4CEB-2C1FB90A0B9D}"/>
              </a:ext>
            </a:extLst>
          </p:cNvPr>
          <p:cNvSpPr>
            <a:spLocks noGrp="1"/>
          </p:cNvSpPr>
          <p:nvPr>
            <p:ph idx="1"/>
          </p:nvPr>
        </p:nvSpPr>
        <p:spPr>
          <a:xfrm>
            <a:off x="838200" y="1173510"/>
            <a:ext cx="10515600" cy="2813699"/>
          </a:xfrm>
        </p:spPr>
        <p:txBody>
          <a:bodyPr/>
          <a:lstStyle/>
          <a:p>
            <a:pPr>
              <a:lnSpc>
                <a:spcPct val="100000"/>
              </a:lnSpc>
              <a:spcBef>
                <a:spcPts val="600"/>
              </a:spcBef>
              <a:buFont typeface="Wingdings" panose="05000000000000000000" pitchFamily="2" charset="2"/>
              <a:buChar char="n"/>
            </a:pPr>
            <a:r>
              <a:rPr lang="ja-JP" altLang="en-US" dirty="0"/>
              <a:t>解決できた課題</a:t>
            </a:r>
            <a:endParaRPr lang="en-US" altLang="ja-JP" dirty="0"/>
          </a:p>
          <a:p>
            <a:pPr lvl="1">
              <a:lnSpc>
                <a:spcPct val="100000"/>
              </a:lnSpc>
              <a:spcBef>
                <a:spcPts val="600"/>
              </a:spcBef>
            </a:pPr>
            <a:r>
              <a:rPr lang="en-US" altLang="ja-JP" dirty="0"/>
              <a:t>DI</a:t>
            </a:r>
            <a:r>
              <a:rPr lang="ja-JP" altLang="en-US" dirty="0"/>
              <a:t>コンテナの仕組み</a:t>
            </a:r>
            <a:endParaRPr lang="en-US" altLang="ja-JP" dirty="0"/>
          </a:p>
          <a:p>
            <a:pPr marL="457200" lvl="1" indent="0">
              <a:lnSpc>
                <a:spcPct val="100000"/>
              </a:lnSpc>
              <a:spcBef>
                <a:spcPts val="600"/>
              </a:spcBef>
              <a:buNone/>
            </a:pPr>
            <a:endParaRPr lang="en-US" altLang="ja-JP" dirty="0"/>
          </a:p>
        </p:txBody>
      </p:sp>
      <p:sp>
        <p:nvSpPr>
          <p:cNvPr id="4" name="スライド番号プレースホルダー 3">
            <a:extLst>
              <a:ext uri="{FF2B5EF4-FFF2-40B4-BE49-F238E27FC236}">
                <a16:creationId xmlns:a16="http://schemas.microsoft.com/office/drawing/2014/main" id="{4BE622B2-A414-E8F8-1F44-71432924548F}"/>
              </a:ext>
            </a:extLst>
          </p:cNvPr>
          <p:cNvSpPr>
            <a:spLocks noGrp="1"/>
          </p:cNvSpPr>
          <p:nvPr>
            <p:ph type="sldNum" sz="quarter" idx="12"/>
          </p:nvPr>
        </p:nvSpPr>
        <p:spPr/>
        <p:txBody>
          <a:bodyPr/>
          <a:lstStyle/>
          <a:p>
            <a:fld id="{00D2F285-7DC3-4F9C-8E53-6893EECBFE42}" type="slidenum">
              <a:rPr kumimoji="1" lang="ja-JP" altLang="en-US" smtClean="0"/>
              <a:t>7</a:t>
            </a:fld>
            <a:endParaRPr kumimoji="1" lang="ja-JP" altLang="en-US"/>
          </a:p>
        </p:txBody>
      </p:sp>
      <p:sp>
        <p:nvSpPr>
          <p:cNvPr id="5" name="テキスト ボックス 4">
            <a:extLst>
              <a:ext uri="{FF2B5EF4-FFF2-40B4-BE49-F238E27FC236}">
                <a16:creationId xmlns:a16="http://schemas.microsoft.com/office/drawing/2014/main" id="{2D69A0A7-D2E9-62B8-2616-6EEAF3E7FD2E}"/>
              </a:ext>
            </a:extLst>
          </p:cNvPr>
          <p:cNvSpPr txBox="1"/>
          <p:nvPr/>
        </p:nvSpPr>
        <p:spPr>
          <a:xfrm>
            <a:off x="2222648" y="2416825"/>
            <a:ext cx="8451999" cy="707886"/>
          </a:xfrm>
          <a:prstGeom prst="rect">
            <a:avLst/>
          </a:prstGeom>
          <a:noFill/>
        </p:spPr>
        <p:txBody>
          <a:bodyPr wrap="square" rtlCol="0">
            <a:spAutoFit/>
          </a:bodyPr>
          <a:lstStyle/>
          <a:p>
            <a:pPr algn="ctr"/>
            <a:r>
              <a:rPr lang="ja-JP" altLang="en-US" sz="2000" dirty="0"/>
              <a:t>インタフェースを実装するタイミングで機械的に</a:t>
            </a:r>
            <a:r>
              <a:rPr lang="en-US" altLang="ja-JP" sz="2000" dirty="0"/>
              <a:t>DI</a:t>
            </a:r>
            <a:r>
              <a:rPr lang="ja-JP" altLang="en-US" sz="2000" dirty="0"/>
              <a:t>コンテナを編集した</a:t>
            </a:r>
            <a:endParaRPr lang="en-US" altLang="ja-JP" sz="2000" dirty="0"/>
          </a:p>
          <a:p>
            <a:pPr algn="ctr"/>
            <a:r>
              <a:rPr lang="ja-JP" altLang="en-US" sz="2000" dirty="0"/>
              <a:t>仕組みや利点を理解出来ていなかった</a:t>
            </a:r>
            <a:endParaRPr lang="en-US" altLang="ja-JP" sz="2000" dirty="0"/>
          </a:p>
        </p:txBody>
      </p:sp>
      <p:sp>
        <p:nvSpPr>
          <p:cNvPr id="6" name="テキスト ボックス 5">
            <a:extLst>
              <a:ext uri="{FF2B5EF4-FFF2-40B4-BE49-F238E27FC236}">
                <a16:creationId xmlns:a16="http://schemas.microsoft.com/office/drawing/2014/main" id="{94E3BEFD-28B5-0AA0-282D-E9BB04834E43}"/>
              </a:ext>
            </a:extLst>
          </p:cNvPr>
          <p:cNvSpPr txBox="1"/>
          <p:nvPr/>
        </p:nvSpPr>
        <p:spPr>
          <a:xfrm>
            <a:off x="2331188" y="3787878"/>
            <a:ext cx="8234918" cy="707886"/>
          </a:xfrm>
          <a:prstGeom prst="rect">
            <a:avLst/>
          </a:prstGeom>
          <a:noFill/>
        </p:spPr>
        <p:txBody>
          <a:bodyPr wrap="square" rtlCol="0">
            <a:spAutoFit/>
          </a:bodyPr>
          <a:lstStyle/>
          <a:p>
            <a:pPr algn="ctr"/>
            <a:r>
              <a:rPr lang="ja-JP" altLang="en-US" sz="2000" dirty="0"/>
              <a:t>クラス名を認識してコンストラクタの引数に注入している</a:t>
            </a:r>
            <a:endParaRPr lang="en-US" altLang="ja-JP" sz="2000" dirty="0"/>
          </a:p>
          <a:p>
            <a:pPr algn="ctr"/>
            <a:r>
              <a:rPr lang="ja-JP" altLang="en-US" sz="2000" dirty="0"/>
              <a:t>テスト時のモックの差し替えが容易になる</a:t>
            </a:r>
            <a:endParaRPr lang="en-US" altLang="ja-JP" sz="2000" dirty="0"/>
          </a:p>
        </p:txBody>
      </p:sp>
      <p:sp>
        <p:nvSpPr>
          <p:cNvPr id="7" name="二等辺三角形 6">
            <a:extLst>
              <a:ext uri="{FF2B5EF4-FFF2-40B4-BE49-F238E27FC236}">
                <a16:creationId xmlns:a16="http://schemas.microsoft.com/office/drawing/2014/main" id="{B2A36983-9F3A-1E22-ECD5-F959B412A559}"/>
              </a:ext>
            </a:extLst>
          </p:cNvPr>
          <p:cNvSpPr/>
          <p:nvPr/>
        </p:nvSpPr>
        <p:spPr>
          <a:xfrm rot="10800000">
            <a:off x="6261037" y="3352893"/>
            <a:ext cx="375221" cy="184551"/>
          </a:xfrm>
          <a:prstGeom prst="triangl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コンテンツ プレースホルダー 2">
            <a:extLst>
              <a:ext uri="{FF2B5EF4-FFF2-40B4-BE49-F238E27FC236}">
                <a16:creationId xmlns:a16="http://schemas.microsoft.com/office/drawing/2014/main" id="{EE35878B-E460-9B54-3ECF-14224127D817}"/>
              </a:ext>
            </a:extLst>
          </p:cNvPr>
          <p:cNvSpPr txBox="1">
            <a:spLocks/>
          </p:cNvSpPr>
          <p:nvPr/>
        </p:nvSpPr>
        <p:spPr>
          <a:xfrm>
            <a:off x="838200" y="5023062"/>
            <a:ext cx="10515600" cy="118217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nSpc>
                <a:spcPct val="100000"/>
              </a:lnSpc>
              <a:spcBef>
                <a:spcPts val="600"/>
              </a:spcBef>
              <a:buFont typeface="Wingdings" panose="05000000000000000000" pitchFamily="2" charset="2"/>
              <a:buChar char="n"/>
            </a:pPr>
            <a:r>
              <a:rPr lang="ja-JP" altLang="en-US" dirty="0"/>
              <a:t>解決できなかった課題</a:t>
            </a:r>
            <a:endParaRPr lang="en-US" altLang="ja-JP" dirty="0"/>
          </a:p>
          <a:p>
            <a:pPr lvl="1">
              <a:lnSpc>
                <a:spcPct val="100000"/>
              </a:lnSpc>
              <a:spcBef>
                <a:spcPts val="600"/>
              </a:spcBef>
            </a:pPr>
            <a:r>
              <a:rPr lang="en-US" altLang="ja-JP" dirty="0" err="1"/>
              <a:t>FluentAPI</a:t>
            </a:r>
            <a:r>
              <a:rPr lang="ja-JP" altLang="en-US" dirty="0"/>
              <a:t>を意図した設定にできず、エラーの原因となってしまった</a:t>
            </a:r>
            <a:endParaRPr lang="en-US" altLang="ja-JP" dirty="0"/>
          </a:p>
          <a:p>
            <a:pPr lvl="1">
              <a:lnSpc>
                <a:spcPct val="100000"/>
              </a:lnSpc>
              <a:spcBef>
                <a:spcPts val="600"/>
              </a:spcBef>
            </a:pPr>
            <a:endParaRPr lang="en-US" altLang="ja-JP" dirty="0"/>
          </a:p>
          <a:p>
            <a:pPr lvl="1">
              <a:lnSpc>
                <a:spcPct val="100000"/>
              </a:lnSpc>
              <a:spcBef>
                <a:spcPts val="600"/>
              </a:spcBef>
            </a:pPr>
            <a:endParaRPr lang="en-US" altLang="ja-JP" dirty="0"/>
          </a:p>
          <a:p>
            <a:pPr marL="457200" lvl="1" indent="0">
              <a:lnSpc>
                <a:spcPct val="100000"/>
              </a:lnSpc>
              <a:spcBef>
                <a:spcPts val="600"/>
              </a:spcBef>
              <a:buFont typeface="Arial" panose="020B0604020202020204" pitchFamily="34" charset="0"/>
              <a:buNone/>
            </a:pPr>
            <a:endParaRPr lang="en-US" altLang="ja-JP" dirty="0"/>
          </a:p>
        </p:txBody>
      </p:sp>
    </p:spTree>
    <p:extLst>
      <p:ext uri="{BB962C8B-B14F-4D97-AF65-F5344CB8AC3E}">
        <p14:creationId xmlns:p14="http://schemas.microsoft.com/office/powerpoint/2010/main" val="37700688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92403DB1-58AE-DAFF-B418-DD0C2E98C6B8}"/>
              </a:ext>
            </a:extLst>
          </p:cNvPr>
          <p:cNvCxnSpPr>
            <a:cxnSpLocks/>
          </p:cNvCxnSpPr>
          <p:nvPr/>
        </p:nvCxnSpPr>
        <p:spPr>
          <a:xfrm>
            <a:off x="1734325" y="2297716"/>
            <a:ext cx="9198089" cy="0"/>
          </a:xfrm>
          <a:prstGeom prst="line">
            <a:avLst/>
          </a:prstGeom>
          <a:ln w="38100">
            <a:solidFill>
              <a:schemeClr val="accent4"/>
            </a:solidFill>
          </a:ln>
        </p:spPr>
        <p:style>
          <a:lnRef idx="2">
            <a:schemeClr val="accent1"/>
          </a:lnRef>
          <a:fillRef idx="0">
            <a:schemeClr val="accent1"/>
          </a:fillRef>
          <a:effectRef idx="1">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648765AC-B8C2-8425-B360-1CF21A0E8596}"/>
              </a:ext>
            </a:extLst>
          </p:cNvPr>
          <p:cNvSpPr>
            <a:spLocks noGrp="1"/>
          </p:cNvSpPr>
          <p:nvPr>
            <p:ph idx="1"/>
          </p:nvPr>
        </p:nvSpPr>
        <p:spPr>
          <a:xfrm>
            <a:off x="838200" y="1162878"/>
            <a:ext cx="10515600" cy="5558597"/>
          </a:xfrm>
        </p:spPr>
        <p:txBody>
          <a:bodyPr>
            <a:normAutofit fontScale="92500" lnSpcReduction="20000"/>
          </a:bodyPr>
          <a:lstStyle/>
          <a:p>
            <a:pPr>
              <a:spcBef>
                <a:spcPts val="600"/>
              </a:spcBef>
              <a:buFont typeface="Wingdings" panose="05000000000000000000" pitchFamily="2" charset="2"/>
              <a:buChar char="n"/>
            </a:pPr>
            <a:r>
              <a:rPr kumimoji="1" lang="ja-JP" altLang="en-US" dirty="0"/>
              <a:t>６月の目標の達成度</a:t>
            </a:r>
            <a:endParaRPr kumimoji="1" lang="en-US" altLang="ja-JP" dirty="0"/>
          </a:p>
          <a:p>
            <a:pPr marL="914400" lvl="1" indent="-457200">
              <a:spcBef>
                <a:spcPts val="600"/>
              </a:spcBef>
              <a:buFont typeface="+mj-ea"/>
              <a:buAutoNum type="circleNumDbPlain"/>
            </a:pPr>
            <a:r>
              <a:rPr lang="en-US" altLang="ja-JP" dirty="0"/>
              <a:t>DDD</a:t>
            </a:r>
            <a:r>
              <a:rPr lang="ja-JP" altLang="en-US" dirty="0"/>
              <a:t>の理解</a:t>
            </a:r>
            <a:endParaRPr lang="en-US" altLang="ja-JP" dirty="0"/>
          </a:p>
          <a:p>
            <a:pPr marL="914400" lvl="1" indent="-457200">
              <a:spcBef>
                <a:spcPts val="600"/>
              </a:spcBef>
              <a:buFont typeface="+mj-ea"/>
              <a:buAutoNum type="circleNumDbPlain"/>
            </a:pPr>
            <a:endParaRPr lang="en-US" altLang="ja-JP" dirty="0"/>
          </a:p>
          <a:p>
            <a:pPr marL="914400" lvl="1" indent="-457200">
              <a:spcBef>
                <a:spcPts val="600"/>
              </a:spcBef>
              <a:buFont typeface="+mj-ea"/>
              <a:buAutoNum type="circleNumDbPlain"/>
            </a:pPr>
            <a:endParaRPr lang="en-US" altLang="ja-JP" dirty="0"/>
          </a:p>
          <a:p>
            <a:pPr marL="914400" lvl="1" indent="-457200">
              <a:spcBef>
                <a:spcPts val="600"/>
              </a:spcBef>
              <a:buFont typeface="+mj-ea"/>
              <a:buAutoNum type="circleNumDbPlain"/>
            </a:pPr>
            <a:endParaRPr lang="en-US" altLang="ja-JP" dirty="0"/>
          </a:p>
          <a:p>
            <a:pPr marL="914400" lvl="1" indent="-457200">
              <a:spcBef>
                <a:spcPts val="600"/>
              </a:spcBef>
              <a:buFont typeface="+mj-ea"/>
              <a:buAutoNum type="circleNumDbPlain"/>
            </a:pPr>
            <a:r>
              <a:rPr lang="ja-JP" altLang="en-US" dirty="0"/>
              <a:t>ツールの体験</a:t>
            </a:r>
            <a:endParaRPr lang="en-US" altLang="ja-JP" dirty="0"/>
          </a:p>
          <a:p>
            <a:pPr marL="914400" lvl="1" indent="-457200">
              <a:spcBef>
                <a:spcPts val="600"/>
              </a:spcBef>
              <a:buFont typeface="+mj-ea"/>
              <a:buAutoNum type="circleNumDbPlain"/>
            </a:pPr>
            <a:endParaRPr lang="en-US" altLang="ja-JP" dirty="0"/>
          </a:p>
          <a:p>
            <a:pPr marL="914400" lvl="1" indent="-457200">
              <a:spcBef>
                <a:spcPts val="600"/>
              </a:spcBef>
              <a:buFont typeface="+mj-ea"/>
              <a:buAutoNum type="circleNumDbPlain"/>
            </a:pPr>
            <a:endParaRPr lang="en-US" altLang="ja-JP" dirty="0"/>
          </a:p>
          <a:p>
            <a:pPr>
              <a:spcBef>
                <a:spcPts val="600"/>
              </a:spcBef>
              <a:buFont typeface="Wingdings" panose="05000000000000000000" pitchFamily="2" charset="2"/>
              <a:buChar char="n"/>
            </a:pPr>
            <a:endParaRPr lang="en-US" altLang="ja-JP" dirty="0"/>
          </a:p>
          <a:p>
            <a:pPr>
              <a:spcBef>
                <a:spcPts val="600"/>
              </a:spcBef>
              <a:buFont typeface="Wingdings" panose="05000000000000000000" pitchFamily="2" charset="2"/>
              <a:buChar char="n"/>
            </a:pPr>
            <a:r>
              <a:rPr lang="ja-JP" altLang="en-US" dirty="0"/>
              <a:t>７月の目標</a:t>
            </a:r>
            <a:endParaRPr lang="en-US" altLang="ja-JP" dirty="0"/>
          </a:p>
          <a:p>
            <a:pPr lvl="1">
              <a:lnSpc>
                <a:spcPct val="160000"/>
              </a:lnSpc>
              <a:spcBef>
                <a:spcPts val="600"/>
              </a:spcBef>
            </a:pPr>
            <a:r>
              <a:rPr lang="ja-JP" altLang="en-US" dirty="0"/>
              <a:t>経験したことがない量の要件から</a:t>
            </a:r>
            <a:r>
              <a:rPr lang="ja-JP" altLang="en-US" sz="2600" dirty="0">
                <a:solidFill>
                  <a:srgbClr val="C00000"/>
                </a:solidFill>
              </a:rPr>
              <a:t>詳細設計するために情報を整理</a:t>
            </a:r>
            <a:r>
              <a:rPr lang="ja-JP" altLang="en-US" dirty="0"/>
              <a:t>するプロセスを経験する</a:t>
            </a:r>
            <a:endParaRPr lang="en-US" altLang="ja-JP" dirty="0"/>
          </a:p>
          <a:p>
            <a:pPr lvl="1">
              <a:lnSpc>
                <a:spcPct val="160000"/>
              </a:lnSpc>
              <a:spcBef>
                <a:spcPts val="600"/>
              </a:spcBef>
            </a:pPr>
            <a:r>
              <a:rPr lang="ja-JP" altLang="en-US" dirty="0"/>
              <a:t>各種ツールを繰り返し使用することで、</a:t>
            </a:r>
            <a:r>
              <a:rPr lang="ja-JP" altLang="en-US" sz="2600" dirty="0">
                <a:solidFill>
                  <a:srgbClr val="C00000"/>
                </a:solidFill>
              </a:rPr>
              <a:t>知識からスキルに</a:t>
            </a:r>
            <a:r>
              <a:rPr lang="ja-JP" altLang="en-US" dirty="0"/>
              <a:t>昇華させる</a:t>
            </a:r>
            <a:endParaRPr lang="en-US" altLang="ja-JP" dirty="0"/>
          </a:p>
          <a:p>
            <a:pPr lvl="1">
              <a:lnSpc>
                <a:spcPct val="160000"/>
              </a:lnSpc>
              <a:spcBef>
                <a:spcPts val="600"/>
              </a:spcBef>
            </a:pPr>
            <a:r>
              <a:rPr lang="en-US" altLang="ja-JP" sz="2600" b="1" dirty="0">
                <a:solidFill>
                  <a:srgbClr val="C00000"/>
                </a:solidFill>
              </a:rPr>
              <a:t>DDD</a:t>
            </a:r>
            <a:r>
              <a:rPr lang="ja-JP" altLang="en-US" dirty="0"/>
              <a:t>に基づき、責務が適切に整理されたアプリケーションを開発する</a:t>
            </a:r>
            <a:endParaRPr lang="en-US" altLang="ja-JP" dirty="0"/>
          </a:p>
        </p:txBody>
      </p:sp>
      <p:sp>
        <p:nvSpPr>
          <p:cNvPr id="2" name="タイトル 1">
            <a:extLst>
              <a:ext uri="{FF2B5EF4-FFF2-40B4-BE49-F238E27FC236}">
                <a16:creationId xmlns:a16="http://schemas.microsoft.com/office/drawing/2014/main" id="{45862997-2EED-7874-C8A1-CC290688AA87}"/>
              </a:ext>
            </a:extLst>
          </p:cNvPr>
          <p:cNvSpPr>
            <a:spLocks noGrp="1"/>
          </p:cNvSpPr>
          <p:nvPr>
            <p:ph type="title"/>
          </p:nvPr>
        </p:nvSpPr>
        <p:spPr/>
        <p:txBody>
          <a:bodyPr/>
          <a:lstStyle/>
          <a:p>
            <a:r>
              <a:rPr kumimoji="1" lang="en-US" altLang="ja-JP" dirty="0"/>
              <a:t>6</a:t>
            </a:r>
            <a:r>
              <a:rPr kumimoji="1" lang="ja-JP" altLang="en-US" dirty="0"/>
              <a:t>月のまとめ・</a:t>
            </a:r>
            <a:r>
              <a:rPr kumimoji="1" lang="en-US" altLang="ja-JP" dirty="0"/>
              <a:t>7</a:t>
            </a:r>
            <a:r>
              <a:rPr kumimoji="1" lang="ja-JP" altLang="en-US" dirty="0"/>
              <a:t>月の目標</a:t>
            </a:r>
          </a:p>
        </p:txBody>
      </p:sp>
      <p:sp>
        <p:nvSpPr>
          <p:cNvPr id="4" name="スライド番号プレースホルダー 3">
            <a:extLst>
              <a:ext uri="{FF2B5EF4-FFF2-40B4-BE49-F238E27FC236}">
                <a16:creationId xmlns:a16="http://schemas.microsoft.com/office/drawing/2014/main" id="{23781C94-FC2F-E4C8-31C5-CED2CEDDF639}"/>
              </a:ext>
            </a:extLst>
          </p:cNvPr>
          <p:cNvSpPr>
            <a:spLocks noGrp="1"/>
          </p:cNvSpPr>
          <p:nvPr>
            <p:ph type="sldNum" sz="quarter" idx="12"/>
          </p:nvPr>
        </p:nvSpPr>
        <p:spPr/>
        <p:txBody>
          <a:bodyPr/>
          <a:lstStyle/>
          <a:p>
            <a:fld id="{00D2F285-7DC3-4F9C-8E53-6893EECBFE42}" type="slidenum">
              <a:rPr kumimoji="1" lang="ja-JP" altLang="en-US" smtClean="0"/>
              <a:t>8</a:t>
            </a:fld>
            <a:endParaRPr kumimoji="1" lang="ja-JP" altLang="en-US"/>
          </a:p>
        </p:txBody>
      </p:sp>
      <p:sp>
        <p:nvSpPr>
          <p:cNvPr id="6" name="テキスト ボックス 5">
            <a:extLst>
              <a:ext uri="{FF2B5EF4-FFF2-40B4-BE49-F238E27FC236}">
                <a16:creationId xmlns:a16="http://schemas.microsoft.com/office/drawing/2014/main" id="{480D67A5-4793-B0E9-2ECD-61F39F85EB4E}"/>
              </a:ext>
            </a:extLst>
          </p:cNvPr>
          <p:cNvSpPr txBox="1"/>
          <p:nvPr/>
        </p:nvSpPr>
        <p:spPr>
          <a:xfrm>
            <a:off x="2007547" y="1940815"/>
            <a:ext cx="8516679" cy="461665"/>
          </a:xfrm>
          <a:prstGeom prst="rect">
            <a:avLst/>
          </a:prstGeom>
          <a:noFill/>
        </p:spPr>
        <p:txBody>
          <a:bodyPr wrap="square" rtlCol="0">
            <a:spAutoFit/>
          </a:bodyPr>
          <a:lstStyle/>
          <a:p>
            <a:pPr algn="ctr"/>
            <a:r>
              <a:rPr lang="ja-JP" altLang="en-US" sz="2400" dirty="0"/>
              <a:t>責務を整理することの利点と</a:t>
            </a:r>
            <a:r>
              <a:rPr lang="en-US" altLang="ja-JP" sz="2400" dirty="0"/>
              <a:t>DDD</a:t>
            </a:r>
            <a:r>
              <a:rPr lang="ja-JP" altLang="en-US" sz="2400" dirty="0"/>
              <a:t>を実現した設計例を学べた</a:t>
            </a:r>
            <a:endParaRPr kumimoji="1" lang="ja-JP" altLang="en-US" sz="2400" dirty="0"/>
          </a:p>
        </p:txBody>
      </p:sp>
      <p:cxnSp>
        <p:nvCxnSpPr>
          <p:cNvPr id="9" name="直線コネクタ 8">
            <a:extLst>
              <a:ext uri="{FF2B5EF4-FFF2-40B4-BE49-F238E27FC236}">
                <a16:creationId xmlns:a16="http://schemas.microsoft.com/office/drawing/2014/main" id="{BC0FE3CB-FEAF-B82D-B32A-35BC3D63F56F}"/>
              </a:ext>
            </a:extLst>
          </p:cNvPr>
          <p:cNvCxnSpPr>
            <a:cxnSpLocks/>
          </p:cNvCxnSpPr>
          <p:nvPr/>
        </p:nvCxnSpPr>
        <p:spPr>
          <a:xfrm>
            <a:off x="1734325" y="3462282"/>
            <a:ext cx="9198089" cy="0"/>
          </a:xfrm>
          <a:prstGeom prst="line">
            <a:avLst/>
          </a:prstGeom>
          <a:ln w="38100">
            <a:solidFill>
              <a:schemeClr val="accent4"/>
            </a:solidFill>
          </a:ln>
        </p:spPr>
        <p:style>
          <a:lnRef idx="2">
            <a:schemeClr val="accent1"/>
          </a:lnRef>
          <a:fillRef idx="0">
            <a:schemeClr val="accent1"/>
          </a:fillRef>
          <a:effectRef idx="1">
            <a:schemeClr val="accent1"/>
          </a:effectRef>
          <a:fontRef idx="minor">
            <a:schemeClr val="tx1"/>
          </a:fontRef>
        </p:style>
      </p:cxnSp>
      <p:sp>
        <p:nvSpPr>
          <p:cNvPr id="10" name="テキスト ボックス 9">
            <a:extLst>
              <a:ext uri="{FF2B5EF4-FFF2-40B4-BE49-F238E27FC236}">
                <a16:creationId xmlns:a16="http://schemas.microsoft.com/office/drawing/2014/main" id="{79534B00-A56D-2A44-C7EF-51F809FDDF32}"/>
              </a:ext>
            </a:extLst>
          </p:cNvPr>
          <p:cNvSpPr txBox="1"/>
          <p:nvPr/>
        </p:nvSpPr>
        <p:spPr>
          <a:xfrm>
            <a:off x="1868359" y="3111408"/>
            <a:ext cx="8930021" cy="461665"/>
          </a:xfrm>
          <a:prstGeom prst="rect">
            <a:avLst/>
          </a:prstGeom>
          <a:noFill/>
        </p:spPr>
        <p:txBody>
          <a:bodyPr wrap="square" rtlCol="0">
            <a:spAutoFit/>
          </a:bodyPr>
          <a:lstStyle/>
          <a:p>
            <a:pPr algn="ctr"/>
            <a:r>
              <a:rPr kumimoji="1" lang="ja-JP" altLang="en-US" sz="2400" dirty="0"/>
              <a:t>各ツールの利点と使用方法を学び、躓きやすい点を整理できた</a:t>
            </a:r>
          </a:p>
        </p:txBody>
      </p:sp>
    </p:spTree>
    <p:extLst>
      <p:ext uri="{BB962C8B-B14F-4D97-AF65-F5344CB8AC3E}">
        <p14:creationId xmlns:p14="http://schemas.microsoft.com/office/powerpoint/2010/main" val="3746756565"/>
      </p:ext>
    </p:extLst>
  </p:cSld>
  <p:clrMapOvr>
    <a:masterClrMapping/>
  </p:clrMapOvr>
</p:sld>
</file>

<file path=ppt/theme/theme1.xml><?xml version="1.0" encoding="utf-8"?>
<a:theme xmlns:a="http://schemas.openxmlformats.org/drawingml/2006/main" name="Office テーマ">
  <a:themeElements>
    <a:clrScheme name="スリップストリーム">
      <a:dk1>
        <a:sysClr val="windowText" lastClr="000000"/>
      </a:dk1>
      <a:lt1>
        <a:sysClr val="window" lastClr="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Gill Sans MT">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817</TotalTime>
  <Words>675</Words>
  <Application>Microsoft Office PowerPoint</Application>
  <PresentationFormat>ワイド画面</PresentationFormat>
  <Paragraphs>102</Paragraphs>
  <Slides>8</Slides>
  <Notes>2</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8</vt:i4>
      </vt:variant>
    </vt:vector>
  </HeadingPairs>
  <TitlesOfParts>
    <vt:vector size="13" baseType="lpstr">
      <vt:lpstr>游ゴシック</vt:lpstr>
      <vt:lpstr>Arial</vt:lpstr>
      <vt:lpstr>Gill Sans MT</vt:lpstr>
      <vt:lpstr>Wingdings</vt:lpstr>
      <vt:lpstr>Office テーマ</vt:lpstr>
      <vt:lpstr>6月研修報告</vt:lpstr>
      <vt:lpstr>今月の研修内容</vt:lpstr>
      <vt:lpstr>開発演習の成果</vt:lpstr>
      <vt:lpstr>印象に残った学び①</vt:lpstr>
      <vt:lpstr>印象に残った学び②</vt:lpstr>
      <vt:lpstr>5月からの変化</vt:lpstr>
      <vt:lpstr>発見された課題</vt:lpstr>
      <vt:lpstr>6月のまとめ・7月の目標</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opnewemp016</dc:creator>
  <cp:lastModifiedBy>Murayama Keiichiro(村山 恵一郎)</cp:lastModifiedBy>
  <cp:revision>123</cp:revision>
  <dcterms:created xsi:type="dcterms:W3CDTF">2026-05-19T07:47:15Z</dcterms:created>
  <dcterms:modified xsi:type="dcterms:W3CDTF">2026-06-29T12:33:50Z</dcterms:modified>
</cp:coreProperties>
</file>